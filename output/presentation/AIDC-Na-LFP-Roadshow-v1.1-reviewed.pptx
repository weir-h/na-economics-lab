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b207261f44a98" /><Relationship Type="http://schemas.openxmlformats.org/officeDocument/2006/relationships/extended-properties" Target="/docProps/app.xml" Id="R6277383375f94ae6" /><Relationship Type="http://schemas.openxmlformats.org/officeDocument/2006/relationships/officeDocument" Target="/ppt/presentation.xml" Id="Re8bd9a2cad09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cf4c2bf37b4ded"/>
  </p:sldMasterIdLst>
  <p:notesMasterIdLst>
    <p:notesMasterId xmlns:r="http://schemas.openxmlformats.org/officeDocument/2006/relationships" r:id="Rc677c77670864f05"/>
  </p:notesMasterIdLst>
  <p:sldIdLst>
    <p:sldId xmlns:r="http://schemas.openxmlformats.org/officeDocument/2006/relationships" id="256" r:id="R1844ca2ab6df4a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774ee2b1e3457b" /><Relationship Type="http://schemas.openxmlformats.org/officeDocument/2006/relationships/slideMaster" Target="/ppt/slideMasters/slideMaster1.xml" Id="R49cf4c2bf37b4ded" /><Relationship Type="http://schemas.openxmlformats.org/officeDocument/2006/relationships/notesMaster" Target="/ppt/notesMasters/notesMaster1.xml" Id="Rc677c77670864f05" /><Relationship Type="http://schemas.openxmlformats.org/officeDocument/2006/relationships/presProps" Target="/ppt/presProps.xml" Id="Re6a449fb982d4792" /><Relationship Type="http://schemas.openxmlformats.org/officeDocument/2006/relationships/tableStyles" Target="/ppt/tableStyles.xml" Id="Rc729b27438a544a3" /><Relationship Type="http://schemas.openxmlformats.org/officeDocument/2006/relationships/slide" Target="/ppt/slides/slide1.xml" Id="R1844ca2ab6df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3f85fee12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3c2d14a7846b0" /><Relationship Type="http://schemas.openxmlformats.org/officeDocument/2006/relationships/notesMaster" Target="/ppt/notesMasters/notesMaster1.xml" Id="R469a35523861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作者：WeiR-h。研究v1.1，2026-10-14。</a:t>
            </a:r>
          </a:p>
          <a:p xmlns:a="http://schemas.openxmlformats.org/drawingml/2006/main">
            <a:r>
              <a:t>研究问题是同一供电任务的长期经济边界。左侧曲线为条件性模拟，40元需量价不是本地合同。主模型采用双方共同满足15000次的题设解释。</a:t>
            </a:r>
          </a:p>
          <a:p xmlns:a="http://schemas.openxmlformats.org/drawingml/2006/main">
            <a:r>
              <a:t>平价充电窗口下，固定补电量的平均功率给出峰值下界，均分充电达到该下界；任意电价下不宣称完整经济最优。</a:t>
            </a:r>
          </a:p>
          <a:p xmlns:a="http://schemas.openxmlformats.org/drawingml/2006/main">
            <a:r>
              <a:t>右侧表使用昆宇官网及规格书一致的15分钟232/121kW字段，ceil(1000/232)=5、ceil(1000/121)=9。厂家未标注该表的温度、BOL/EOL或交流转换边界，尚不能用于保证−30℃和寿命终点任务。产品工作下限分别0和−20℃，循环公开3000/4000次且EOL不明。5/9柜不是已确认工程方案；55.56%门槛只在柜价供货范围和其他费用相同的条件成立，报价尚未取得。</a:t>
            </a:r>
          </a:p>
          <a:p xmlns:a="http://schemas.openxmlformats.org/drawingml/2006/main">
            <a:r>
              <a:t>任丘政府最终中标金额为Na41416220元/40MWh，LFP186480000元/360MWh，折合1035.4055/518元每kWh。4小时电站规模、厂商及产品组合不同，不能把该比值视为通用材料差价。招标范围已含PCS、BMS、消防和温控等；税率与全部合同待核验。未移植为本经济模型电池单价。</a:t>
            </a:r>
          </a:p>
          <a:p xmlns:a="http://schemas.openxmlformats.org/drawingml/2006/main">
            <a:r>
              <a:t>循环与日历寿命补充：模拟年233.6次，15年日历先约束，即使LFP6000次也同年换电。软件校核不能代替现场实验。</a:t>
            </a:r>
          </a:p>
          <a:p xmlns:a="http://schemas.openxmlformats.org/drawingml/2006/main">
            <a:r>
              <a:t>官方题目：https://1836.online/projects/cmujvb96f000z3jo188jx0xjp</a:t>
            </a:r>
          </a:p>
          <a:p xmlns:a="http://schemas.openxmlformats.org/drawingml/2006/main">
            <a:r>
              <a:t>官方现行规则：https://1836.online/points-and-revenue</a:t>
            </a:r>
          </a:p>
          <a:p xmlns:a="http://schemas.openxmlformats.org/drawingml/2006/main">
            <a:r>
              <a:t>政府评价方法：https://www.energy.gov/cmei/2022-grid-energy-storage-technology-cost-and-performance-assessment</a:t>
            </a:r>
          </a:p>
          <a:p xmlns:a="http://schemas.openxmlformats.org/drawingml/2006/main">
            <a:r>
              <a:t>厂商披露：https://www.catl.com/news/10052.html</a:t>
            </a:r>
          </a:p>
          <a:p xmlns:a="http://schemas.openxmlformats.org/drawingml/2006/main">
            <a:r>
              <a:t>上市公司投资者活动记录：https://static.cninfo.com.cn/finalpage/2026-07-24/1225441968.PDF</a:t>
            </a:r>
          </a:p>
          <a:p xmlns:a="http://schemas.openxmlformats.org/drawingml/2006/main">
            <a:r>
              <a:t>同行评议电芯成本情景研究：https://www.nature.com/articles/s41560-024-01701-9</a:t>
            </a:r>
          </a:p>
          <a:p xmlns:a="http://schemas.openxmlformats.org/drawingml/2006/main">
            <a:r>
              <a:t>国际机构产业分析：https://www.iea.org/commentaries/sodium-ion-battery-momentum-grows-but-challenges-remain</a:t>
            </a:r>
          </a:p>
          <a:p xmlns:a="http://schemas.openxmlformats.org/drawingml/2006/main">
            <a:r>
              <a:t>厂商产品用途说明：https://www.deltapowersolutions.com/en/mcis/lbm-series-ups-battery-system-introduction.php</a:t>
            </a:r>
          </a:p>
          <a:p xmlns:a="http://schemas.openxmlformats.org/drawingml/2006/main">
            <a:r>
              <a:t>政府历史计费结构说明：https://zfxxgk.ndrc.gov.cn/web/iteminfo.jsp?id=16504</a:t>
            </a:r>
          </a:p>
          <a:p xmlns:a="http://schemas.openxmlformats.org/drawingml/2006/main">
            <a:r>
              <a:t>厂商LFP备电柜产品页：https://www.cospowers.com/products/info/97/1619.html</a:t>
            </a:r>
          </a:p>
          <a:p xmlns:a="http://schemas.openxmlformats.org/drawingml/2006/main">
            <a:r>
              <a:t>厂商LFP规格书，中文第1页：https://www.cospowers.com/web/upload/2026/08/13/17866123138164tut9b.pdf</a:t>
            </a:r>
          </a:p>
          <a:p xmlns:a="http://schemas.openxmlformats.org/drawingml/2006/main">
            <a:r>
              <a:t>厂商钠电备电柜产品页：https://www.cospowers.com/products/info/136/1623.html</a:t>
            </a:r>
          </a:p>
          <a:p xmlns:a="http://schemas.openxmlformats.org/drawingml/2006/main">
            <a:r>
              <a:t>厂商钠电规格书，中文第1页：https://www.cospowers.com/web/upload/2026/08/13/17866112719415eirh7.pdf</a:t>
            </a:r>
          </a:p>
          <a:p xmlns:a="http://schemas.openxmlformats.org/drawingml/2006/main">
            <a:r>
              <a:t>厂商LFP UPS产品参数：https://www.deltapowersolutions.com/en/mcis/lbm-series-ups-battery-system-specifications.php</a:t>
            </a:r>
          </a:p>
          <a:p xmlns:a="http://schemas.openxmlformats.org/drawingml/2006/main">
            <a:r>
              <a:t>厂商LFP UPS产品规格书：https://www.deltapowersolutions.com/media/download/Leaflet_UPS-Battery_LBM%20series_en_EKAICA-ESP-FH.pdf</a:t>
            </a:r>
          </a:p>
          <a:p xmlns:a="http://schemas.openxmlformats.org/drawingml/2006/main">
            <a:r>
              <a:t>厂商AIDC产品披露：https://cn.highstar.com/companynews/352</a:t>
            </a:r>
          </a:p>
          <a:p xmlns:a="http://schemas.openxmlformats.org/drawingml/2006/main">
            <a:r>
              <a:t>厂商电芯目录：https://cn.highstar.com/cell</a:t>
            </a:r>
          </a:p>
          <a:p xmlns:a="http://schemas.openxmlformats.org/drawingml/2006/main">
            <a:r>
              <a:t>政府最终中标结果，钠电标段：https://szj.hebei.gov.cn/hbggfwpt/jydt/003001/003001002/003001002004/20260915/db2166c9-a5c5-48e9-b6ba-bbcfc2670499.html</a:t>
            </a:r>
          </a:p>
          <a:p xmlns:a="http://schemas.openxmlformats.org/drawingml/2006/main">
            <a:r>
              <a:t>政府最终中标结果，LFP标段：https://szj.hebei.gov.cn/hbggfwpt/jydt/003001/003001002/003001002004/20260915/f9176493-3534-4e30-b3bf-8f74662fbc51.html</a:t>
            </a:r>
          </a:p>
          <a:p xmlns:a="http://schemas.openxmlformats.org/drawingml/2006/main">
            <a:r>
              <a:t>政府原始招标范围，钠电标段：https://szj.hebei.gov.cn/hbggfwpt/jydt/003001/003001002/003001002001/20260807/b89f4e40-80b7-4e3a-a727-4fc63e80fa21.html</a:t>
            </a:r>
          </a:p>
          <a:p xmlns:a="http://schemas.openxmlformats.org/drawingml/2006/main">
            <a:r>
              <a:t>政府原始招标范围，LFP标段：https://szj.hebei.gov.cn/hbggfwpt/jydt/003001/003001002/003001002001/20260807/2233b878-5252-4270-a3c0-859635d5de7b.html</a:t>
            </a:r>
          </a:p>
          <a:p xmlns:a="http://schemas.openxmlformats.org/drawingml/2006/main">
            <a:r>
              <a:t>政府钠电招标补遗：https://szj.hebei.gov.cn/hbggfwpt/jydt/003001/003001002/003001002001/20260817/f5dd332f-4b72-4d9d-ac24-c400e2a36af1.html</a:t>
            </a:r>
          </a:p>
          <a:p xmlns:a="http://schemas.openxmlformats.org/drawingml/2006/main">
            <a:r>
              <a:t>政府LFP招标补遗：https://szj.hebei.gov.cn/hbggfwpt/jydt/003001/003001002/003001002001/20260817/a12601dc-ef29-42e8-983c-3b3c64af44ae.html</a:t>
            </a:r>
          </a:p>
          <a:p xmlns:a="http://schemas.openxmlformats.org/drawingml/2006/main">
            <a:r>
              <a:t>同题公开讨论：https://1836.online/posts/cmv3eakqr00kg3kpmflyzdcm2</a:t>
            </a:r>
          </a:p>
          <a:p xmlns:a="http://schemas.openxmlformats.org/drawingml/2006/main">
            <a:r>
              <a:t>详见v1.1研究与单页讲述提纲。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25ca50a8b48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e55bb78354c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8266f97e346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2c626879b45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7930eb99647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ab41dc699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EC01A3-F674-4352-BB89-5EC0F6F23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EEDA10-5177-4594-8F9C-6138B1BEC1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292A68-9D36-428E-BF48-D5C472ED5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32FC9C-03A1-4547-9A25-0A044E48B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412E8C-0FFE-4905-A068-230B2E2AF0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F21143-A939-4385-A33A-40F282101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0FBE7B-0895-4443-8749-129041ADA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92E854-EC09-4392-B0C9-40358A319F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3BBC1-57E5-4EF3-B036-24D6899A0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E99BBD-844E-47A0-9BC9-5337FC099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ab557f276a40fc" /><Relationship Type="http://schemas.openxmlformats.org/officeDocument/2006/relationships/slideLayout" Target="/ppt/slideLayouts/slideLayout1.xml" Id="R6d1d83b562c3478f" /><Relationship Type="http://schemas.openxmlformats.org/officeDocument/2006/relationships/slideLayout" Target="/ppt/slideLayouts/slideLayout2.xml" Id="R27f541b6690c4fe2" /><Relationship Type="http://schemas.openxmlformats.org/officeDocument/2006/relationships/slideLayout" Target="/ppt/slideLayouts/slideLayout3.xml" Id="R78437e06c8494997" /><Relationship Type="http://schemas.openxmlformats.org/officeDocument/2006/relationships/slideLayout" Target="/ppt/slideLayouts/slideLayout4.xml" Id="Ra785f64b388b46fb" /><Relationship Type="http://schemas.openxmlformats.org/officeDocument/2006/relationships/slideLayout" Target="/ppt/slideLayouts/slideLayout5.xml" Id="R20e11193b8184cd1" /><Relationship Type="http://schemas.openxmlformats.org/officeDocument/2006/relationships/slideLayout" Target="/ppt/slideLayouts/slideLayout6.xml" Id="R166073a715cb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1d83b562c3478f"/>
    <p:sldLayoutId xmlns:r="http://schemas.openxmlformats.org/officeDocument/2006/relationships" id="2147483650" r:id="R27f541b6690c4fe2"/>
    <p:sldLayoutId xmlns:r="http://schemas.openxmlformats.org/officeDocument/2006/relationships" id="2147483651" r:id="R78437e06c8494997"/>
    <p:sldLayoutId xmlns:r="http://schemas.openxmlformats.org/officeDocument/2006/relationships" id="2147483652" r:id="Ra785f64b388b46fb"/>
    <p:sldLayoutId xmlns:r="http://schemas.openxmlformats.org/officeDocument/2006/relationships" id="2147483653" r:id="R20e11193b8184cd1"/>
    <p:sldLayoutId xmlns:r="http://schemas.openxmlformats.org/officeDocument/2006/relationships" id="2147483654" r:id="R166073a715cb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1e8fec22643de" /><Relationship Type="http://schemas.openxmlformats.org/officeDocument/2006/relationships/chart" Target="/ppt/slides/charts/chart1.xml" Id="R94df9187c330402d" /><Relationship Type="http://schemas.openxmlformats.org/officeDocument/2006/relationships/notesSlide" Target="/ppt/notesSlides/notesSlide1.xml" Id="R0f69fdb673fe416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20年条件性净现值（万元）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0342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低价优先补电</c:v>
          </c:tx>
          <c:spPr>
            <a:ln xmlns:a="http://schemas.openxmlformats.org/drawingml/2006/main" w="28575">
              <a:solidFill>
                <a:srgbClr val="71819A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0</c:formatCode>
                <c:ptCount val="13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</c:numCache>
            </c:numRef>
          </c:cat>
          <c:val>
            <c:numRef>
              <c:f>'Chart Data'!$B$2:$B$14</c:f>
              <c:numCache>
                <c:formatCode>0</c:formatCode>
                <c:ptCount val="13"/>
                <c:pt idx="0">
                  <c:v>43.65</c:v>
                </c:pt>
                <c:pt idx="1">
                  <c:v>-31.22</c:v>
                </c:pt>
                <c:pt idx="2">
                  <c:v>-106.1</c:v>
                </c:pt>
                <c:pt idx="3">
                  <c:v>-180.97</c:v>
                </c:pt>
                <c:pt idx="4">
                  <c:v>-255.84</c:v>
                </c:pt>
                <c:pt idx="5">
                  <c:v>-330.72</c:v>
                </c:pt>
                <c:pt idx="6">
                  <c:v>-405.59</c:v>
                </c:pt>
                <c:pt idx="7">
                  <c:v>-480.46</c:v>
                </c:pt>
                <c:pt idx="8">
                  <c:v>-555.33</c:v>
                </c:pt>
                <c:pt idx="9">
                  <c:v>-630.21</c:v>
                </c:pt>
                <c:pt idx="10">
                  <c:v>-705.08</c:v>
                </c:pt>
                <c:pt idx="11">
                  <c:v>-779.95</c:v>
                </c:pt>
                <c:pt idx="12">
                  <c:v>-854.83</c:v>
                </c:pt>
              </c:numCache>
            </c:numRef>
          </c:val>
          <c:smooth val="0"/>
        </c:ser>
        <c:ser>
          <c:idx val="1"/>
          <c:order val="1"/>
          <c:tx>
            <c:v>先降低充电峰值</c:v>
          </c:tx>
          <c:spPr>
            <a:ln xmlns:a="http://schemas.openxmlformats.org/drawingml/2006/main" w="28575">
              <a:solidFill>
                <a:srgbClr val="155A46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0</c:formatCode>
                <c:ptCount val="13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</c:numCache>
            </c:numRef>
          </c:cat>
          <c:val>
            <c:numRef>
              <c:f>'Chart Data'!$D$2:$D$14</c:f>
              <c:numCache>
                <c:formatCode>0</c:formatCode>
                <c:ptCount val="13"/>
                <c:pt idx="0">
                  <c:v>43.65</c:v>
                </c:pt>
                <c:pt idx="1">
                  <c:v>22.78</c:v>
                </c:pt>
                <c:pt idx="2">
                  <c:v>1.91</c:v>
                </c:pt>
                <c:pt idx="3">
                  <c:v>-18.96</c:v>
                </c:pt>
                <c:pt idx="4">
                  <c:v>-39.83</c:v>
                </c:pt>
                <c:pt idx="5">
                  <c:v>-60.7</c:v>
                </c:pt>
                <c:pt idx="6">
                  <c:v>-81.57</c:v>
                </c:pt>
                <c:pt idx="7">
                  <c:v>-102.44</c:v>
                </c:pt>
                <c:pt idx="8">
                  <c:v>-123.31</c:v>
                </c:pt>
                <c:pt idx="9">
                  <c:v>-144.18</c:v>
                </c:pt>
                <c:pt idx="10">
                  <c:v>-165.05</c:v>
                </c:pt>
                <c:pt idx="11">
                  <c:v>-185.92</c:v>
                </c:pt>
                <c:pt idx="12">
                  <c:v>-206.79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Microsoft YaHei"/>
                    <a:ea typeface="Microsoft YaHei"/>
                    <a:cs typeface="Microsoft YaHei"/>
                  </a:rPr>
                  <a:t>假设月需量单价（元/kW·月）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EDB17D63-174D-4B6C-B8C4-29F60199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钠电在AIDC中，何时值得多付钱？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466C095-EB18-420C-A91B-3F9CB54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04题  同一供电任务的长期经济边界  研究v1.1  作者：WeiR-h  2026-10-14</a:t>
            </a:r>
          </a:p>
        </p:txBody>
      </p:sp>
      <p:sp>
        <p:nvSpPr>
          <p:cNvPr id="3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5096374E-B5F6-4084-B399-C714BDB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平摊充电后，需量40元/kW·月假设使NPV从＋43.65变为−123.31万元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585E3FC-5E11-4EBC-8326-8176C4F35F8E}"/>
              </a:ext>
            </a:extLst>
          </p:cNvPr>
          <p:cNvGraphicFramePr/>
          <p:nvPr/>
        </p:nvGraphicFramePr>
        <p:xfrm>
          <a:off xmlns:a="http://schemas.openxmlformats.org/drawingml/2006/main" x="428625" y="2114550"/>
          <a:ext xmlns:a="http://schemas.openxmlformats.org/drawingml/2006/main" cx="66865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df9187c330402d"/>
          </a:graphicData>
        </a:graphic>
      </p:graphicFrame>
      <p:sp>
        <p:nvSpPr>
          <p:cNvPr id="5" name="power-heading">
            <a:extLst xmlns:a="http://schemas.openxmlformats.org/drawingml/2006/main">
              <a:ext uri="{FF2B5EF4-FFF2-40B4-BE49-F238E27FC236}">
                <a16:creationId xmlns:a16="http://schemas.microsoft.com/office/drawing/2014/main" id="{4040C09F-8BCD-47DB-A0D9-A53A67A7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71700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1MW、15分钟备电柜数初筛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81234-FF12-44D4-B718-18C773C66AE7}"/>
              </a:ext>
            </a:extLst>
          </p:cNvPr>
          <p:cNvGraphicFramePr/>
          <p:nvPr/>
        </p:nvGraphicFramePr>
        <p:xfrm>
          <a:off xmlns:a="http://schemas.openxmlformats.org/drawingml/2006/main" x="7667625" y="2600325"/>
          <a:ext xmlns:a="http://schemas.openxmlformats.org/drawingml/2006/main" cx="394335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1314450"/>
                <a:gridCol w="762000"/>
              </a:tblGrid>
              <a:tr h="3429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昆宇产品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CE5DF"/>
                      </a:solidFill>
                      <a:prstDash val="solid"/>
                    </a:lnL>
                    <a:lnR w="4763">
                      <a:solidFill>
                        <a:srgbClr val="DCE5DF"/>
                      </a:solidFill>
                      <a:prstDash val="solid"/>
                    </a:lnR>
                    <a:lnT w="4763">
                      <a:solidFill>
                        <a:srgbClr val="DCE5DF"/>
                      </a:solidFill>
                      <a:prstDash val="solid"/>
                    </a:lnT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155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15分钟功率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T w="4763">
                      <a:solidFill>
                        <a:srgbClr val="DCE5DF"/>
                      </a:solidFill>
                      <a:prstDash val="solid"/>
                    </a:lnT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155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柜数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T w="4763">
                      <a:solidFill>
                        <a:srgbClr val="DCE5DF"/>
                      </a:solidFill>
                      <a:prstDash val="solid"/>
                    </a:lnT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155A4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LFP CFS80085U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CE5DF"/>
                      </a:solidFill>
                      <a:prstDash val="solid"/>
                    </a:lnL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232kW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 CNS80050U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CE5DF"/>
                      </a:solidFill>
                      <a:prstDash val="solid"/>
                    </a:lnL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121kW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CE5DF"/>
                      </a:solidFill>
                      <a:prstDash val="solid"/>
                    </a:lnR>
                    <a:lnB w="4763">
                      <a:solidFill>
                        <a:srgbClr val="DC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roduct-limit">
            <a:extLst xmlns:a="http://schemas.openxmlformats.org/drawingml/2006/main">
              <a:ext uri="{FF2B5EF4-FFF2-40B4-BE49-F238E27FC236}">
                <a16:creationId xmlns:a16="http://schemas.microsoft.com/office/drawing/2014/main" id="{9FBD5462-CEE4-47DE-9D13-EA8EC78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24275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原表工况初筛，EOL与−30℃性能待核</a:t>
            </a:r>
          </a:p>
        </p:txBody>
      </p:sp>
      <p:sp>
        <p:nvSpPr>
          <p:cNvPr id="8" name="quote-heading">
            <a:extLst xmlns:a="http://schemas.openxmlformats.org/drawingml/2006/main">
              <a:ext uri="{FF2B5EF4-FFF2-40B4-BE49-F238E27FC236}">
                <a16:creationId xmlns:a16="http://schemas.microsoft.com/office/drawing/2014/main" id="{F6249360-D723-40DE-9198-A95199D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整柜报价与首购成本</a:t>
            </a:r>
          </a:p>
        </p:txBody>
      </p:sp>
      <p:sp>
        <p:nvSpPr>
          <p:cNvPr id="9" name="quote-evidence">
            <a:extLst xmlns:a="http://schemas.openxmlformats.org/drawingml/2006/main">
              <a:ext uri="{FF2B5EF4-FFF2-40B4-BE49-F238E27FC236}">
                <a16:creationId xmlns:a16="http://schemas.microsoft.com/office/drawing/2014/main" id="{5AF3C3FE-1AD2-4936-B416-7676B3E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394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9柜钠电总价 &lt; 5柜LFP总价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Na单柜价需 &lt; LFP的55.56%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仅比较柜价，其他费用须相同</a:t>
            </a:r>
          </a:p>
        </p:txBody>
      </p:sp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19E228C8-1C80-4163-BC4F-4D374677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条件模拟：1MW、2MWh/日、15分钟备用；20年、5%折现；双方RTE90%，谷价0.30元，8小时平价补电</a:t>
            </a:r>
          </a:p>
        </p:txBody>
      </p:sp>
      <p:sp>
        <p:nvSpPr>
          <p:cNvPr id="11" name="claim-limit">
            <a:extLst xmlns:a="http://schemas.openxmlformats.org/drawingml/2006/main">
              <a:ext uri="{FF2B5EF4-FFF2-40B4-BE49-F238E27FC236}">
                <a16:creationId xmlns:a16="http://schemas.microsoft.com/office/drawing/2014/main" id="{7C2EF218-1B17-40F2-ACE6-7D8C47F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公开中标：4小时电站Na 1,035.41、LFP 518元/kWh，已含PCS等。AIDC配对报价待取得</a:t>
            </a:r>
          </a:p>
        </p:txBody>
      </p:sp>
      <p:sp>
        <p:nvSpPr>
          <p:cNvPr id="12" name="close">
            <a:extLst xmlns:a="http://schemas.openxmlformats.org/drawingml/2006/main">
              <a:ext uri="{FF2B5EF4-FFF2-40B4-BE49-F238E27FC236}">
                <a16:creationId xmlns:a16="http://schemas.microsoft.com/office/drawing/2014/main" id="{5EE6D4BB-D823-41B7-BD1F-52DC4483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7222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实际采购结论需要配对报价、低温倍率与容量、日历质保和计费合同</a:t>
            </a:r>
          </a:p>
        </p:txBody>
      </p:sp>
    </p:spTree>
    <p:extLst>
      <p:ext uri="{BB962C8B-B14F-4D97-AF65-F5344CB8AC3E}">
        <p14:creationId xmlns:p14="http://schemas.microsoft.com/office/powerpoint/2010/main" val="1687075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WeiR-h</dc:creator>
  <ns0:lastModifiedBy>WeiR-h</ns0:lastModifiedBy>
  <dc:title>Presentation</dc:title>
  <ns2:created xsi:type="dcterms:W3CDTF">2026-10-14T10:29:31.7510000Z</ns2:created>
  <ns2:modified xsi:type="dcterms:W3CDTF">2026-10-14T10:29:31.7520000Z</ns2:modified>
</ns0:coreProperties>
</file>