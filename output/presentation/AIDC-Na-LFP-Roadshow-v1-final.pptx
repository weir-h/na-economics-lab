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a8c66595404994" /><Relationship Type="http://schemas.openxmlformats.org/officeDocument/2006/relationships/extended-properties" Target="/docProps/app.xml" Id="R09e28da5aff84f49" /><Relationship Type="http://schemas.openxmlformats.org/officeDocument/2006/relationships/officeDocument" Target="/ppt/presentation.xml" Id="Rd80e4725f9d54b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a9c7f17c5f4294"/>
  </p:sldMasterIdLst>
  <p:notesMasterIdLst>
    <p:notesMasterId xmlns:r="http://schemas.openxmlformats.org/officeDocument/2006/relationships" r:id="Rb7ec685c5427440a"/>
  </p:notesMasterIdLst>
  <p:sldIdLst>
    <p:sldId xmlns:r="http://schemas.openxmlformats.org/officeDocument/2006/relationships" id="256" r:id="R20d4fbad928a44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f798d9c0954f6f" /><Relationship Type="http://schemas.openxmlformats.org/officeDocument/2006/relationships/slideMaster" Target="/ppt/slideMasters/slideMaster1.xml" Id="R35a9c7f17c5f4294" /><Relationship Type="http://schemas.openxmlformats.org/officeDocument/2006/relationships/notesMaster" Target="/ppt/notesMasters/notesMaster1.xml" Id="Rb7ec685c5427440a" /><Relationship Type="http://schemas.openxmlformats.org/officeDocument/2006/relationships/presProps" Target="/ppt/presProps.xml" Id="R9b7ff3501d34438e" /><Relationship Type="http://schemas.openxmlformats.org/officeDocument/2006/relationships/tableStyles" Target="/ppt/tableStyles.xml" Id="Re92ba508143d48cf" /><Relationship Type="http://schemas.openxmlformats.org/officeDocument/2006/relationships/slide" Target="/ppt/slides/slide1.xml" Id="R20d4fbad928a44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0704a61e1143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40826bcf01430c" /><Relationship Type="http://schemas.openxmlformats.org/officeDocument/2006/relationships/notesMaster" Target="/ppt/notesMasters/notesMaster1.xml" Id="Rb987fc30873948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讲述动机：数据中心购买的是保障和任务交付能力，研究把它转成可以复算的经济边界。</a:t>
            </a:r>
          </a:p>
          <a:p xmlns:a="http://schemas.openxmlformats.org/drawingml/2006/main">
            <a:r>
              <a:t>所有数值均为条件性模拟；0.5C和4C没有赋予实际产品，40元需量价不是本地合同。主模型采用双方共同满足15000次的解释。</a:t>
            </a:r>
          </a:p>
          <a:p xmlns:a="http://schemas.openxmlformats.org/drawingml/2006/main">
            <a:r>
              <a:t>平价充电窗口下，固定补电总量的平均充电功率给出峰值下界，均匀充电达到该下界；任意电价下不宣称完整经济最优。</a:t>
            </a:r>
          </a:p>
          <a:p xmlns:a="http://schemas.openxmlformats.org/drawingml/2006/main">
            <a:r>
              <a:t>软件检验不等于低温产品实验。公开资料用于约束映射，没有把电芯成本映射成系统采购价。</a:t>
            </a:r>
          </a:p>
          <a:p xmlns:a="http://schemas.openxmlformats.org/drawingml/2006/main">
            <a:r>
              <a:t>04题官方说明：https://1836.online/projects/cmujvb96f000z3jo188jx0xjp</a:t>
            </a:r>
          </a:p>
          <a:p xmlns:a="http://schemas.openxmlformats.org/drawingml/2006/main">
            <a:r>
              <a:t>官网赛程与评审机制：https://1836.online/points-and-revenue</a:t>
            </a:r>
          </a:p>
          <a:p xmlns:a="http://schemas.openxmlformats.org/drawingml/2006/main">
            <a:r>
              <a:t>美国能源部储能成本与性能评价：https://www.energy.gov/cmei/2022-grid-energy-storage-technology-cost-and-performance-assessment</a:t>
            </a:r>
          </a:p>
          <a:p xmlns:a="http://schemas.openxmlformats.org/drawingml/2006/main">
            <a:r>
              <a:t>宁德时代2026年钠电场站公告：https://www.catl.com/news/10052.html</a:t>
            </a:r>
          </a:p>
          <a:p xmlns:a="http://schemas.openxmlformats.org/drawingml/2006/main">
            <a:r>
              <a:t>宏英智能2026年7月24日投资者记录：https://static.cninfo.com.cn/finalpage/2026-07-24/1225441968.PDF</a:t>
            </a:r>
          </a:p>
          <a:p xmlns:a="http://schemas.openxmlformats.org/drawingml/2006/main">
            <a:r>
              <a:t>Nature Energy钠电成本竞争力研究：https://www.nature.com/articles/s41560-024-01701-9</a:t>
            </a:r>
          </a:p>
          <a:p xmlns:a="http://schemas.openxmlformats.org/drawingml/2006/main">
            <a:r>
              <a:t>IEA钠电发展与约束分析：https://www.iea.org/commentaries/sodium-ion-battery-momentum-grows-but-challenges-remain</a:t>
            </a:r>
          </a:p>
          <a:p xmlns:a="http://schemas.openxmlformats.org/drawingml/2006/main">
            <a:r>
              <a:t>台达LBM磷酸铁锂UPS电池系统：https://www.deltapowersolutions.com/en/mcis/lbm-series-ups-battery-system-introduction.php</a:t>
            </a:r>
          </a:p>
          <a:p xmlns:a="http://schemas.openxmlformats.org/drawingml/2006/main">
            <a:r>
              <a:t>同题公开讨论：https://1836.online/posts/cmv3eakqr00kg3kpmflyzdcm2</a:t>
            </a:r>
          </a:p>
          <a:p xmlns:a="http://schemas.openxmlformats.org/drawingml/2006/main">
            <a:r>
              <a:t>计费结构说明：https://zfxxgk.ndrc.gov.cn/web/iteminfo.jsp?id=16504</a:t>
            </a:r>
          </a:p>
          <a:p xmlns:a="http://schemas.openxmlformats.org/drawingml/2006/main">
            <a:r>
              <a:t>详见研究PDF与单页路演讲述提纲。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63da2cc6e3422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d76f0eb3a9494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507a1a81c440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5fc6d69e404eb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f70a12ab5743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3420d6bbcd4f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56AD7D-A9D4-4B4E-87F2-8ABF5017A7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440CE5C-4D07-4DF7-944C-053E8750C90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D8833A6-CBBC-4CF4-8BE6-1C1AFAB0CC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02CA45-48E5-4B57-A632-A707FA1764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7DDD60D-1703-4179-A718-10355CBA46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798F24F-8590-4606-8AFB-8CEC1CE691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E93409-67B6-4871-98AB-967A272F63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50FF3DA-D696-4A42-8CC9-8E404DB815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BAFF74-A663-406C-BF2D-275C6083AE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104D1E-9E98-4117-ADF1-71447D8EE0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05caf5a731499d" /><Relationship Type="http://schemas.openxmlformats.org/officeDocument/2006/relationships/slideLayout" Target="/ppt/slideLayouts/slideLayout1.xml" Id="R44b2eb51b8734ba0" /><Relationship Type="http://schemas.openxmlformats.org/officeDocument/2006/relationships/slideLayout" Target="/ppt/slideLayouts/slideLayout2.xml" Id="Rbbf4f33cb261472a" /><Relationship Type="http://schemas.openxmlformats.org/officeDocument/2006/relationships/slideLayout" Target="/ppt/slideLayouts/slideLayout3.xml" Id="R284c60f488734423" /><Relationship Type="http://schemas.openxmlformats.org/officeDocument/2006/relationships/slideLayout" Target="/ppt/slideLayouts/slideLayout4.xml" Id="Rb258cc1b49b64642" /><Relationship Type="http://schemas.openxmlformats.org/officeDocument/2006/relationships/slideLayout" Target="/ppt/slideLayouts/slideLayout5.xml" Id="Rf5f6d462802f4739" /><Relationship Type="http://schemas.openxmlformats.org/officeDocument/2006/relationships/slideLayout" Target="/ppt/slideLayouts/slideLayout6.xml" Id="R3cd2c2bd1e5a45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b2eb51b8734ba0"/>
    <p:sldLayoutId xmlns:r="http://schemas.openxmlformats.org/officeDocument/2006/relationships" id="2147483650" r:id="Rbbf4f33cb261472a"/>
    <p:sldLayoutId xmlns:r="http://schemas.openxmlformats.org/officeDocument/2006/relationships" id="2147483651" r:id="R284c60f488734423"/>
    <p:sldLayoutId xmlns:r="http://schemas.openxmlformats.org/officeDocument/2006/relationships" id="2147483652" r:id="Rb258cc1b49b64642"/>
    <p:sldLayoutId xmlns:r="http://schemas.openxmlformats.org/officeDocument/2006/relationships" id="2147483653" r:id="Rf5f6d462802f4739"/>
    <p:sldLayoutId xmlns:r="http://schemas.openxmlformats.org/officeDocument/2006/relationships" id="2147483654" r:id="R3cd2c2bd1e5a45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a3c1ff59124f01" /><Relationship Type="http://schemas.openxmlformats.org/officeDocument/2006/relationships/chart" Target="/ppt/slides/charts/chart1.xml" Id="R410cfcf5f7e5490b" /><Relationship Type="http://schemas.openxmlformats.org/officeDocument/2006/relationships/notesSlide" Target="/ppt/notesSlides/notesSlide1.xml" Id="R85a9cf6964ea4e9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20年条件性净现值（万元）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0342C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低价优先补电</c:v>
          </c:tx>
          <c:spPr>
            <a:ln xmlns:a="http://schemas.openxmlformats.org/drawingml/2006/main" w="28575">
              <a:solidFill>
                <a:srgbClr val="71819A"/>
              </a:solidFill>
            </a:ln>
          </c:spPr>
          <c:marker>
            <c:symbol val="none"/>
          </c:marker>
          <c:cat>
            <c:numRef>
              <c:f>'Chart Data'!$A$2:$A$14</c:f>
              <c:numCache>
                <c:formatCode>0</c:formatCode>
                <c:ptCount val="13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</c:numCache>
            </c:numRef>
          </c:cat>
          <c:val>
            <c:numRef>
              <c:f>'Chart Data'!$B$2:$B$14</c:f>
              <c:numCache>
                <c:formatCode>0</c:formatCode>
                <c:ptCount val="13"/>
                <c:pt idx="0">
                  <c:v>43.65</c:v>
                </c:pt>
                <c:pt idx="1">
                  <c:v>-31.22</c:v>
                </c:pt>
                <c:pt idx="2">
                  <c:v>-106.1</c:v>
                </c:pt>
                <c:pt idx="3">
                  <c:v>-180.97</c:v>
                </c:pt>
                <c:pt idx="4">
                  <c:v>-255.84</c:v>
                </c:pt>
                <c:pt idx="5">
                  <c:v>-330.72</c:v>
                </c:pt>
                <c:pt idx="6">
                  <c:v>-405.59</c:v>
                </c:pt>
                <c:pt idx="7">
                  <c:v>-480.46</c:v>
                </c:pt>
                <c:pt idx="8">
                  <c:v>-555.33</c:v>
                </c:pt>
                <c:pt idx="9">
                  <c:v>-630.21</c:v>
                </c:pt>
                <c:pt idx="10">
                  <c:v>-705.08</c:v>
                </c:pt>
                <c:pt idx="11">
                  <c:v>-779.95</c:v>
                </c:pt>
                <c:pt idx="12">
                  <c:v>-854.83</c:v>
                </c:pt>
              </c:numCache>
            </c:numRef>
          </c:val>
          <c:smooth val="0"/>
        </c:ser>
        <c:ser>
          <c:idx val="1"/>
          <c:order val="1"/>
          <c:tx>
            <c:v>先降低充电峰值</c:v>
          </c:tx>
          <c:spPr>
            <a:ln xmlns:a="http://schemas.openxmlformats.org/drawingml/2006/main" w="28575">
              <a:solidFill>
                <a:srgbClr val="155A46"/>
              </a:solidFill>
            </a:ln>
          </c:spPr>
          <c:marker>
            <c:symbol val="none"/>
          </c:marker>
          <c:cat>
            <c:numRef>
              <c:f>'Chart Data'!$C$2:$C$14</c:f>
              <c:numCache>
                <c:formatCode>0</c:formatCode>
                <c:ptCount val="13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</c:numCache>
            </c:numRef>
          </c:cat>
          <c:val>
            <c:numRef>
              <c:f>'Chart Data'!$D$2:$D$14</c:f>
              <c:numCache>
                <c:formatCode>0</c:formatCode>
                <c:ptCount val="13"/>
                <c:pt idx="0">
                  <c:v>43.65</c:v>
                </c:pt>
                <c:pt idx="1">
                  <c:v>22.78</c:v>
                </c:pt>
                <c:pt idx="2">
                  <c:v>1.91</c:v>
                </c:pt>
                <c:pt idx="3">
                  <c:v>-18.96</c:v>
                </c:pt>
                <c:pt idx="4">
                  <c:v>-39.83</c:v>
                </c:pt>
                <c:pt idx="5">
                  <c:v>-60.7</c:v>
                </c:pt>
                <c:pt idx="6">
                  <c:v>-81.57</c:v>
                </c:pt>
                <c:pt idx="7">
                  <c:v>-102.44</c:v>
                </c:pt>
                <c:pt idx="8">
                  <c:v>-123.31</c:v>
                </c:pt>
                <c:pt idx="9">
                  <c:v>-144.18</c:v>
                </c:pt>
                <c:pt idx="10">
                  <c:v>-165.05</c:v>
                </c:pt>
                <c:pt idx="11">
                  <c:v>-185.92</c:v>
                </c:pt>
                <c:pt idx="12">
                  <c:v>-206.79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latin typeface="Microsoft YaHei"/>
                    <a:ea typeface="Microsoft YaHei"/>
                    <a:cs typeface="Microsoft YaHei"/>
                  </a:rPr>
                  <a:t>假设月需量单价（元/kW·月）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9E5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2F743302-AD7E-4421-A67A-F35848C1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1120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钠电在AIDC中，何时值得多付钱？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E5EA5562-C9F9-4192-97B6-6AC03A67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477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rPr>
              <a:t>04题 · 同一供电任务的长期经济边界｜研究第一版 2026-10-14</a:t>
            </a:r>
          </a:p>
        </p:txBody>
      </p:sp>
      <p:sp>
        <p:nvSpPr>
          <p:cNvPr id="3" name="main-finding">
            <a:extLst xmlns:a="http://schemas.openxmlformats.org/drawingml/2006/main">
              <a:ext uri="{FF2B5EF4-FFF2-40B4-BE49-F238E27FC236}">
                <a16:creationId xmlns:a16="http://schemas.microsoft.com/office/drawing/2014/main" id="{C792C312-EDB8-41B3-95D0-725D1EE7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1114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rPr>
              <a:t>平摊充电后，需量40元/kW·月假设使NPV从＋43.65变为−123.31万元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FBE7CB6-8984-4159-9516-B18FD5963BAC}"/>
              </a:ext>
            </a:extLst>
          </p:cNvPr>
          <p:cNvGraphicFramePr/>
          <p:nvPr/>
        </p:nvGraphicFramePr>
        <p:xfrm>
          <a:off xmlns:a="http://schemas.openxmlformats.org/drawingml/2006/main" x="428625" y="2114550"/>
          <a:ext xmlns:a="http://schemas.openxmlformats.org/drawingml/2006/main" cx="6686550" cy="3267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0cfcf5f7e5490b"/>
          </a:graphicData>
        </a:graphic>
      </p:graphicFrame>
      <p:sp>
        <p:nvSpPr>
          <p:cNvPr id="5" name="power-heading">
            <a:extLst xmlns:a="http://schemas.openxmlformats.org/drawingml/2006/main">
              <a:ext uri="{FF2B5EF4-FFF2-40B4-BE49-F238E27FC236}">
                <a16:creationId xmlns:a16="http://schemas.microsoft.com/office/drawing/2014/main" id="{C0E08716-BEE0-401E-8B20-A32789B0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71700"/>
            <a:ext cx="3943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15分钟备电，功率先决定容量</a:t>
            </a:r>
          </a:p>
        </p:txBody>
      </p:sp>
      <p:sp>
        <p:nvSpPr>
          <p:cNvPr id="6" name="power-evidence">
            <a:extLst xmlns:a="http://schemas.openxmlformats.org/drawingml/2006/main">
              <a:ext uri="{FF2B5EF4-FFF2-40B4-BE49-F238E27FC236}">
                <a16:creationId xmlns:a16="http://schemas.microsoft.com/office/drawing/2014/main" id="{72DDF6A0-B99E-4576-A98E-DBD5C2F9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09850"/>
            <a:ext cx="3943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0.5C假设：2,928kWh</a:t>
            </a:r>
          </a:p>
          <a:p xmlns:a="http://schemas.openxmlformats.org/drawingml/2006/main">
            <a:pPr>
              <a:defRPr sz="15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4C假设：407kWh</a:t>
            </a:r>
          </a:p>
          <a:p xmlns:a="http://schemas.openxmlformats.org/drawingml/2006/main">
            <a:pPr>
              <a:defRPr sz="15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有效倍率3.6C是配置分界</a:t>
            </a:r>
          </a:p>
        </p:txBody>
      </p:sp>
      <p:sp>
        <p:nvSpPr>
          <p:cNvPr id="7" name="cycle-heading">
            <a:extLst xmlns:a="http://schemas.openxmlformats.org/drawingml/2006/main">
              <a:ext uri="{FF2B5EF4-FFF2-40B4-BE49-F238E27FC236}">
                <a16:creationId xmlns:a16="http://schemas.microsoft.com/office/drawing/2014/main" id="{C46D0B4C-8C79-4AD3-BD61-358DD865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57625"/>
            <a:ext cx="3943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15,000次不自动减少换电</a:t>
            </a:r>
          </a:p>
        </p:txBody>
      </p:sp>
      <p:sp>
        <p:nvSpPr>
          <p:cNvPr id="8" name="cycle-evidence">
            <a:extLst xmlns:a="http://schemas.openxmlformats.org/drawingml/2006/main">
              <a:ext uri="{FF2B5EF4-FFF2-40B4-BE49-F238E27FC236}">
                <a16:creationId xmlns:a16="http://schemas.microsoft.com/office/drawing/2014/main" id="{B9D528AA-3C51-40B2-84C5-71BC543C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86250"/>
            <a:ext cx="39433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年等效测试循环233.6次</a:t>
            </a:r>
          </a:p>
          <a:p xmlns:a="http://schemas.openxmlformats.org/drawingml/2006/main">
            <a:pPr>
              <a:defRPr sz="15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日历寿命15年先约束</a:t>
            </a:r>
          </a:p>
          <a:p xmlns:a="http://schemas.openxmlformats.org/drawingml/2006/main">
            <a:pPr>
              <a:defRPr sz="15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42C"/>
                </a:solidFill>
                <a:latin typeface="Microsoft YaHei"/>
                <a:ea typeface="Microsoft YaHei"/>
                <a:cs typeface="Microsoft YaHei"/>
              </a:rPr>
              <a:t>LFP即使6,000次，也在第15年换电</a:t>
            </a:r>
          </a:p>
        </p:txBody>
      </p:sp>
      <p:sp>
        <p:nvSpPr>
          <p:cNvPr id="9" name="scope">
            <a:extLst xmlns:a="http://schemas.openxmlformats.org/drawingml/2006/main">
              <a:ext uri="{FF2B5EF4-FFF2-40B4-BE49-F238E27FC236}">
                <a16:creationId xmlns:a16="http://schemas.microsoft.com/office/drawing/2014/main" id="{7E70CB4C-8DC1-4005-ABB9-195A4DF3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1112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rPr>
              <a:t>条件模拟：1MW、2MWh/日、15分钟备用；20年、5%折现；双方RTE90%，谷价0.30元，8小时平价补电</a:t>
            </a:r>
          </a:p>
        </p:txBody>
      </p:sp>
      <p:sp>
        <p:nvSpPr>
          <p:cNvPr id="10" name="claim-limit">
            <a:extLst xmlns:a="http://schemas.openxmlformats.org/drawingml/2006/main">
              <a:ext uri="{FF2B5EF4-FFF2-40B4-BE49-F238E27FC236}">
                <a16:creationId xmlns:a16="http://schemas.microsoft.com/office/drawing/2014/main" id="{DE49CD21-85F2-4204-B035-35050C04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0275"/>
            <a:ext cx="11125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1776A"/>
                </a:solidFill>
                <a:latin typeface="Microsoft YaHei"/>
                <a:ea typeface="Microsoft YaHei"/>
                <a:cs typeface="Microsoft YaHei"/>
              </a:rPr>
              <a:t>报价与性能均为显式假设。交付：可运行模型、逐时账本、采购分界、11场景与432格条件检验</a:t>
            </a:r>
          </a:p>
        </p:txBody>
      </p:sp>
      <p:sp>
        <p:nvSpPr>
          <p:cNvPr id="11" name="close">
            <a:extLst xmlns:a="http://schemas.openxmlformats.org/drawingml/2006/main">
              <a:ext uri="{FF2B5EF4-FFF2-40B4-BE49-F238E27FC236}">
                <a16:creationId xmlns:a16="http://schemas.microsoft.com/office/drawing/2014/main" id="{45DD4290-3DD5-4520-9396-B66F799F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72225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5A46"/>
                </a:solidFill>
                <a:latin typeface="Microsoft YaHei"/>
                <a:ea typeface="Microsoft YaHei"/>
                <a:cs typeface="Microsoft YaHei"/>
              </a:rPr>
              <a:t>实际采购结论需要配对报价、低温倍率与容量、日历质保和计费合同</a:t>
            </a:r>
          </a:p>
        </p:txBody>
      </p:sp>
    </p:spTree>
    <p:extLst>
      <p:ext uri="{BB962C8B-B14F-4D97-AF65-F5344CB8AC3E}">
        <p14:creationId xmlns:p14="http://schemas.microsoft.com/office/powerpoint/2010/main" val="595921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2026-10-14T08:35:38.9390000Z</dcterms:created>
  <dcterms:modified xsi:type="dcterms:W3CDTF">2026-10-14T08:35:38.9390000Z</dcterms:modified>
</coreProperties>
</file>