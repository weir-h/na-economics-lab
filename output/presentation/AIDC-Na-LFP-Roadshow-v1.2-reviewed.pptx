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2275acbbd48d0" /><Relationship Type="http://schemas.openxmlformats.org/officeDocument/2006/relationships/extended-properties" Target="/docProps/app.xml" Id="R6be714c9ffa74128" /><Relationship Type="http://schemas.openxmlformats.org/officeDocument/2006/relationships/officeDocument" Target="/ppt/presentation.xml" Id="Re3efd6860ee74b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b9ff97255247fa"/>
  </p:sldMasterIdLst>
  <p:notesMasterIdLst>
    <p:notesMasterId xmlns:r="http://schemas.openxmlformats.org/officeDocument/2006/relationships" r:id="R4c7ba02f70c443ff"/>
  </p:notesMasterIdLst>
  <p:sldIdLst>
    <p:sldId xmlns:r="http://schemas.openxmlformats.org/officeDocument/2006/relationships" id="256" r:id="R7ccca0e5d3b943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3ed07c40924dcc" /><Relationship Type="http://schemas.openxmlformats.org/officeDocument/2006/relationships/slideMaster" Target="/ppt/slideMasters/slideMaster1.xml" Id="Rb1b9ff97255247fa" /><Relationship Type="http://schemas.openxmlformats.org/officeDocument/2006/relationships/notesMaster" Target="/ppt/notesMasters/notesMaster1.xml" Id="R4c7ba02f70c443ff" /><Relationship Type="http://schemas.openxmlformats.org/officeDocument/2006/relationships/presProps" Target="/ppt/presProps.xml" Id="Ra1d7d8f3a7ca44c6" /><Relationship Type="http://schemas.openxmlformats.org/officeDocument/2006/relationships/tableStyles" Target="/ppt/tableStyles.xml" Id="Rfcc6b16aa7d14944" /><Relationship Type="http://schemas.openxmlformats.org/officeDocument/2006/relationships/slide" Target="/ppt/slides/slide1.xml" Id="R7ccca0e5d3b9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c6ccca519c47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0bec465eb54930" /><Relationship Type="http://schemas.openxmlformats.org/officeDocument/2006/relationships/notesMaster" Target="/ppt/notesMasters/notesMaster1.xml" Id="R1af53ec36efa47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建机制：工具0.3.0在本地实现认领、证据提交与不同署名复核、修订和更正、积分依据及独立经营记录。姓名由操作人填写，真实身份和平台审核未集成；演练资料不构成真实贡献或收入。现有任务、实际共建积分与经营收入初始为空，不承诺基金权益或分红。收益预演只使用假设池和手工登记积分，按分用最大余数法保证总额一致。原创源码MIT许可；厂商原始资料保留来源权利。</a:t>
            </a:r>
          </a:p>
          <a:p xmlns:a="http://schemas.openxmlformats.org/drawingml/2006/main">
            <a:r>
              <a:t>作者：WeiR-h。研究v1.2，2026-10-14。</a:t>
            </a:r>
          </a:p>
          <a:p xmlns:a="http://schemas.openxmlformats.org/drawingml/2006/main">
            <a:r>
              <a:t>研究问题是同一供电任务的长期经济边界。左侧曲线为条件性模拟，40元需量价不是本地合同。主模型采用双方共同满足15000次的题设解释。</a:t>
            </a:r>
          </a:p>
          <a:p xmlns:a="http://schemas.openxmlformats.org/drawingml/2006/main">
            <a:r>
              <a:t>平价充电窗口下，固定补电量的平均功率给出峰值下界，均分充电达到该下界；任意电价下不宣称完整经济最优。</a:t>
            </a:r>
          </a:p>
          <a:p xmlns:a="http://schemas.openxmlformats.org/drawingml/2006/main">
            <a:r>
              <a:t>右侧表使用昆宇官网及规格书一致的15分钟232/121kW字段，ceil(1000/232)=5、ceil(1000/121)=9。厂家未标注该表的温度、BOL/EOL或交流转换边界，尚不能用于保证−30℃和寿命终点任务。产品工作下限分别0和−20℃，循环公开3000/4000次且EOL不明。5/9柜不是已确认工程方案；55.56%门槛只在柜价供货范围和其他费用相同的条件成立，报价尚未取得。</a:t>
            </a:r>
          </a:p>
          <a:p xmlns:a="http://schemas.openxmlformats.org/drawingml/2006/main">
            <a:r>
              <a:t>任丘政府最终中标金额为Na41416220元/40MWh，LFP186480000元/360MWh，折合1035.4055/518元每kWh。4小时电站规模、厂商及产品组合不同，不能把该比值视为通用材料差价。招标范围已含PCS、BMS、消防和温控等；税率与全部合同待核验。未移植为本经济模型电池单价。</a:t>
            </a:r>
          </a:p>
          <a:p xmlns:a="http://schemas.openxmlformats.org/drawingml/2006/main">
            <a:r>
              <a:t>循环与日历寿命补充：模拟年233.6次，15年日历先约束，即使LFP6000次也同年换电。软件校核不能代替现场实验。</a:t>
            </a:r>
          </a:p>
          <a:p xmlns:a="http://schemas.openxmlformats.org/drawingml/2006/main">
            <a:r>
              <a:t>官方题目：https://1836.online/projects/cmujvb96f000z3jo188jx0xjp</a:t>
            </a:r>
          </a:p>
          <a:p xmlns:a="http://schemas.openxmlformats.org/drawingml/2006/main">
            <a:r>
              <a:t>官方现行规则：https://1836.online/points-and-revenue</a:t>
            </a:r>
          </a:p>
          <a:p xmlns:a="http://schemas.openxmlformats.org/drawingml/2006/main">
            <a:r>
              <a:t>政府评价方法：https://www.energy.gov/cmei/2022-grid-energy-storage-technology-cost-and-performance-assessment</a:t>
            </a:r>
          </a:p>
          <a:p xmlns:a="http://schemas.openxmlformats.org/drawingml/2006/main">
            <a:r>
              <a:t>厂商披露：https://www.catl.com/news/10052.html</a:t>
            </a:r>
          </a:p>
          <a:p xmlns:a="http://schemas.openxmlformats.org/drawingml/2006/main">
            <a:r>
              <a:t>上市公司投资者活动记录：https://static.cninfo.com.cn/finalpage/2026-07-24/1225441968.PDF</a:t>
            </a:r>
          </a:p>
          <a:p xmlns:a="http://schemas.openxmlformats.org/drawingml/2006/main">
            <a:r>
              <a:t>同行评议电芯成本情景研究：https://www.nature.com/articles/s41560-024-01701-9</a:t>
            </a:r>
          </a:p>
          <a:p xmlns:a="http://schemas.openxmlformats.org/drawingml/2006/main">
            <a:r>
              <a:t>国际机构产业分析：https://www.iea.org/commentaries/sodium-ion-battery-momentum-grows-but-challenges-remain</a:t>
            </a:r>
          </a:p>
          <a:p xmlns:a="http://schemas.openxmlformats.org/drawingml/2006/main">
            <a:r>
              <a:t>厂商产品用途说明：https://www.deltapowersolutions.com/en/mcis/lbm-series-ups-battery-system-introduction.php</a:t>
            </a:r>
          </a:p>
          <a:p xmlns:a="http://schemas.openxmlformats.org/drawingml/2006/main">
            <a:r>
              <a:t>政府历史计费结构说明：https://zfxxgk.ndrc.gov.cn/web/iteminfo.jsp?id=16504</a:t>
            </a:r>
          </a:p>
          <a:p xmlns:a="http://schemas.openxmlformats.org/drawingml/2006/main">
            <a:r>
              <a:t>厂商LFP备电柜产品页：https://www.cospowers.com/products/info/97/1619.html</a:t>
            </a:r>
          </a:p>
          <a:p xmlns:a="http://schemas.openxmlformats.org/drawingml/2006/main">
            <a:r>
              <a:t>厂商LFP规格书，中文第1页：https://www.cospowers.com/web/upload/2026/08/13/17866123138164tut9b.pdf</a:t>
            </a:r>
          </a:p>
          <a:p xmlns:a="http://schemas.openxmlformats.org/drawingml/2006/main">
            <a:r>
              <a:t>厂商钠电备电柜产品页：https://www.cospowers.com/products/info/136/1623.html</a:t>
            </a:r>
          </a:p>
          <a:p xmlns:a="http://schemas.openxmlformats.org/drawingml/2006/main">
            <a:r>
              <a:t>厂商钠电规格书，中文第1页：https://www.cospowers.com/web/upload/2026/08/13/17866112719415eirh7.pdf</a:t>
            </a:r>
          </a:p>
          <a:p xmlns:a="http://schemas.openxmlformats.org/drawingml/2006/main">
            <a:r>
              <a:t>厂商LFP UPS产品参数：https://www.deltapowersolutions.com/en/mcis/lbm-series-ups-battery-system-specifications.php</a:t>
            </a:r>
          </a:p>
          <a:p xmlns:a="http://schemas.openxmlformats.org/drawingml/2006/main">
            <a:r>
              <a:t>厂商LFP UPS产品规格书：https://www.deltapowersolutions.com/media/download/Leaflet_UPS-Battery_LBM%20series_en_EKAICA-ESP-FH.pdf</a:t>
            </a:r>
          </a:p>
          <a:p xmlns:a="http://schemas.openxmlformats.org/drawingml/2006/main">
            <a:r>
              <a:t>厂商AIDC产品披露：https://cn.highstar.com/companynews/352</a:t>
            </a:r>
          </a:p>
          <a:p xmlns:a="http://schemas.openxmlformats.org/drawingml/2006/main">
            <a:r>
              <a:t>厂商电芯目录：https://cn.highstar.com/cell</a:t>
            </a:r>
          </a:p>
          <a:p xmlns:a="http://schemas.openxmlformats.org/drawingml/2006/main">
            <a:r>
              <a:t>政府最终中标结果，钠电标段：https://szj.hebei.gov.cn/hbggfwpt/jydt/003001/003001002/003001002004/20260915/db2166c9-a5c5-48e9-b6ba-bbcfc2670499.html</a:t>
            </a:r>
          </a:p>
          <a:p xmlns:a="http://schemas.openxmlformats.org/drawingml/2006/main">
            <a:r>
              <a:t>政府最终中标结果，LFP标段：https://szj.hebei.gov.cn/hbggfwpt/jydt/003001/003001002/003001002004/20260915/f9176493-3534-4e30-b3bf-8f74662fbc51.html</a:t>
            </a:r>
          </a:p>
          <a:p xmlns:a="http://schemas.openxmlformats.org/drawingml/2006/main">
            <a:r>
              <a:t>政府原始招标范围，钠电标段：https://szj.hebei.gov.cn/hbggfwpt/jydt/003001/003001002/003001002001/20260807/b89f4e40-80b7-4e3a-a727-4fc63e80fa21.html</a:t>
            </a:r>
          </a:p>
          <a:p xmlns:a="http://schemas.openxmlformats.org/drawingml/2006/main">
            <a:r>
              <a:t>政府原始招标范围，LFP标段：https://szj.hebei.gov.cn/hbggfwpt/jydt/003001/003001002/003001002001/20260807/2233b878-5252-4270-a3c0-859635d5de7b.html</a:t>
            </a:r>
          </a:p>
          <a:p xmlns:a="http://schemas.openxmlformats.org/drawingml/2006/main">
            <a:r>
              <a:t>政府钠电招标补遗：https://szj.hebei.gov.cn/hbggfwpt/jydt/003001/003001002/003001002001/20260817/f5dd332f-4b72-4d9d-ac24-c400e2a36af1.html</a:t>
            </a:r>
          </a:p>
          <a:p xmlns:a="http://schemas.openxmlformats.org/drawingml/2006/main">
            <a:r>
              <a:t>政府LFP招标补遗：https://szj.hebei.gov.cn/hbggfwpt/jydt/003001/003001002/003001002001/20260817/a12601dc-ef29-42e8-983c-3b3c64af44ae.html</a:t>
            </a:r>
          </a:p>
          <a:p xmlns:a="http://schemas.openxmlformats.org/drawingml/2006/main">
            <a:r>
              <a:t>同题公开讨论：https://1836.online/posts/cmv3eakqr00kg3kpmflyzdcm2</a:t>
            </a:r>
          </a:p>
          <a:p xmlns:a="http://schemas.openxmlformats.org/drawingml/2006/main">
            <a:r>
              <a:t>详见v1.2研究与单页讲述提纲。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f06f3069848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c424cce8c44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8c89bb2f247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913eba1254a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cb326337b4a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12007093d4f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855B0A-0591-4762-BE75-110D2791B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27B4D2-E159-4B91-BC8A-9F40146BAC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FBCA73-A73B-4A41-A4ED-6B0B28E1F4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31789F-D43E-4E74-8C66-79FC4CEAD3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E482F3-7015-4D9F-BFF0-0D81BFBDF3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A2B83C-C72B-4195-BB01-600B58D077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7712E6-3CBD-422D-9A04-411047705B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684B2C-6369-4F61-B4E6-77C156FB7E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6341FA-C45C-4F1D-A6C2-FA9825BA1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2071CC-FC48-4993-9283-064B0BA1BB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4b78b70ffe4e74" /><Relationship Type="http://schemas.openxmlformats.org/officeDocument/2006/relationships/slideLayout" Target="/ppt/slideLayouts/slideLayout1.xml" Id="R219b42f8f03448bb" /><Relationship Type="http://schemas.openxmlformats.org/officeDocument/2006/relationships/slideLayout" Target="/ppt/slideLayouts/slideLayout2.xml" Id="Rd285906a98a74279" /><Relationship Type="http://schemas.openxmlformats.org/officeDocument/2006/relationships/slideLayout" Target="/ppt/slideLayouts/slideLayout3.xml" Id="Rf098b69ed3704cd6" /><Relationship Type="http://schemas.openxmlformats.org/officeDocument/2006/relationships/slideLayout" Target="/ppt/slideLayouts/slideLayout4.xml" Id="R9ea0a802941d48b5" /><Relationship Type="http://schemas.openxmlformats.org/officeDocument/2006/relationships/slideLayout" Target="/ppt/slideLayouts/slideLayout5.xml" Id="R6567836a78174ed7" /><Relationship Type="http://schemas.openxmlformats.org/officeDocument/2006/relationships/slideLayout" Target="/ppt/slideLayouts/slideLayout6.xml" Id="R39968844f25146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b42f8f03448bb"/>
    <p:sldLayoutId xmlns:r="http://schemas.openxmlformats.org/officeDocument/2006/relationships" id="2147483650" r:id="Rd285906a98a74279"/>
    <p:sldLayoutId xmlns:r="http://schemas.openxmlformats.org/officeDocument/2006/relationships" id="2147483651" r:id="Rf098b69ed3704cd6"/>
    <p:sldLayoutId xmlns:r="http://schemas.openxmlformats.org/officeDocument/2006/relationships" id="2147483652" r:id="R9ea0a802941d48b5"/>
    <p:sldLayoutId xmlns:r="http://schemas.openxmlformats.org/officeDocument/2006/relationships" id="2147483653" r:id="R6567836a78174ed7"/>
    <p:sldLayoutId xmlns:r="http://schemas.openxmlformats.org/officeDocument/2006/relationships" id="2147483654" r:id="R39968844f25146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4f8fd71a24deb" /><Relationship Type="http://schemas.openxmlformats.org/officeDocument/2006/relationships/chart" Target="/ppt/slides/charts/chart1.xml" Id="R8ca970eddaa54507" /><Relationship Type="http://schemas.openxmlformats.org/officeDocument/2006/relationships/notesSlide" Target="/ppt/notesSlides/notesSlide1.xml" Id="Rfd57e60f8726426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20年条件性净现值（万元）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0342C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低价优先补电</c:v>
          </c:tx>
          <c:spPr>
            <a:ln xmlns:a="http://schemas.openxmlformats.org/drawingml/2006/main" w="28575">
              <a:solidFill>
                <a:srgbClr val="71819A"/>
              </a:solidFill>
            </a:ln>
          </c:spPr>
          <c:marker>
            <c:symbol val="none"/>
          </c:marker>
          <c:cat>
            <c:numRef>
              <c:f>'Chart Data'!$A$2:$A$14</c:f>
              <c:numCache>
                <c:formatCode>0</c:formatCode>
                <c:ptCount val="13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</c:numCache>
            </c:numRef>
          </c:cat>
          <c:val>
            <c:numRef>
              <c:f>'Chart Data'!$B$2:$B$14</c:f>
              <c:numCache>
                <c:formatCode>0</c:formatCode>
                <c:ptCount val="13"/>
                <c:pt idx="0">
                  <c:v>43.65</c:v>
                </c:pt>
                <c:pt idx="1">
                  <c:v>-31.22</c:v>
                </c:pt>
                <c:pt idx="2">
                  <c:v>-106.1</c:v>
                </c:pt>
                <c:pt idx="3">
                  <c:v>-180.97</c:v>
                </c:pt>
                <c:pt idx="4">
                  <c:v>-255.84</c:v>
                </c:pt>
                <c:pt idx="5">
                  <c:v>-330.72</c:v>
                </c:pt>
                <c:pt idx="6">
                  <c:v>-405.59</c:v>
                </c:pt>
                <c:pt idx="7">
                  <c:v>-480.46</c:v>
                </c:pt>
                <c:pt idx="8">
                  <c:v>-555.33</c:v>
                </c:pt>
                <c:pt idx="9">
                  <c:v>-630.21</c:v>
                </c:pt>
                <c:pt idx="10">
                  <c:v>-705.08</c:v>
                </c:pt>
                <c:pt idx="11">
                  <c:v>-779.95</c:v>
                </c:pt>
                <c:pt idx="12">
                  <c:v>-854.83</c:v>
                </c:pt>
              </c:numCache>
            </c:numRef>
          </c:val>
          <c:smooth val="0"/>
        </c:ser>
        <c:ser>
          <c:idx val="1"/>
          <c:order val="1"/>
          <c:tx>
            <c:v>先降低充电峰值</c:v>
          </c:tx>
          <c:spPr>
            <a:ln xmlns:a="http://schemas.openxmlformats.org/drawingml/2006/main" w="28575">
              <a:solidFill>
                <a:srgbClr val="155A46"/>
              </a:solidFill>
            </a:ln>
          </c:spPr>
          <c:marker>
            <c:symbol val="none"/>
          </c:marker>
          <c:cat>
            <c:numRef>
              <c:f>'Chart Data'!$C$2:$C$14</c:f>
              <c:numCache>
                <c:formatCode>0</c:formatCode>
                <c:ptCount val="13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</c:numCache>
            </c:numRef>
          </c:cat>
          <c:val>
            <c:numRef>
              <c:f>'Chart Data'!$D$2:$D$14</c:f>
              <c:numCache>
                <c:formatCode>0</c:formatCode>
                <c:ptCount val="13"/>
                <c:pt idx="0">
                  <c:v>43.65</c:v>
                </c:pt>
                <c:pt idx="1">
                  <c:v>22.78</c:v>
                </c:pt>
                <c:pt idx="2">
                  <c:v>1.91</c:v>
                </c:pt>
                <c:pt idx="3">
                  <c:v>-18.96</c:v>
                </c:pt>
                <c:pt idx="4">
                  <c:v>-39.83</c:v>
                </c:pt>
                <c:pt idx="5">
                  <c:v>-60.7</c:v>
                </c:pt>
                <c:pt idx="6">
                  <c:v>-81.57</c:v>
                </c:pt>
                <c:pt idx="7">
                  <c:v>-102.44</c:v>
                </c:pt>
                <c:pt idx="8">
                  <c:v>-123.31</c:v>
                </c:pt>
                <c:pt idx="9">
                  <c:v>-144.18</c:v>
                </c:pt>
                <c:pt idx="10">
                  <c:v>-165.05</c:v>
                </c:pt>
                <c:pt idx="11">
                  <c:v>-185.92</c:v>
                </c:pt>
                <c:pt idx="12">
                  <c:v>-206.79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Microsoft YaHei"/>
                    <a:ea typeface="Microsoft YaHei"/>
                    <a:cs typeface="Microsoft YaHei"/>
                  </a:rPr>
                  <a:t>假设月需量单价（元/kW·月）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A3542C59-5866-430A-B5C2-118E59BB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钠电×AIDC的经济决策与持续共建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362855F-CFCD-4F13-8822-84459BC8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04题  研究v1.2  工具0.3.0  作者：WeiR-h  2026-10-14</a:t>
            </a:r>
          </a:p>
        </p:txBody>
      </p:sp>
      <p:sp>
        <p:nvSpPr>
          <p:cNvPr id="3" name="main-finding">
            <a:extLst xmlns:a="http://schemas.openxmlformats.org/drawingml/2006/main">
              <a:ext uri="{FF2B5EF4-FFF2-40B4-BE49-F238E27FC236}">
                <a16:creationId xmlns:a16="http://schemas.microsoft.com/office/drawing/2014/main" id="{6348AED8-42D2-4C18-BBB5-3BD7002D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平摊充电后，需量40元/kW·月假设使NPV从＋43.65变为−123.31万元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E0785F3-FEA8-4344-A3AC-A0C08BE660DE}"/>
              </a:ext>
            </a:extLst>
          </p:cNvPr>
          <p:cNvGraphicFramePr/>
          <p:nvPr/>
        </p:nvGraphicFramePr>
        <p:xfrm>
          <a:off xmlns:a="http://schemas.openxmlformats.org/drawingml/2006/main" x="428625" y="2114550"/>
          <a:ext xmlns:a="http://schemas.openxmlformats.org/drawingml/2006/main" cx="668655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a970eddaa54507"/>
          </a:graphicData>
        </a:graphic>
      </p:graphicFrame>
      <p:sp>
        <p:nvSpPr>
          <p:cNvPr id="5" name="power-heading">
            <a:extLst xmlns:a="http://schemas.openxmlformats.org/drawingml/2006/main">
              <a:ext uri="{FF2B5EF4-FFF2-40B4-BE49-F238E27FC236}">
                <a16:creationId xmlns:a16="http://schemas.microsoft.com/office/drawing/2014/main" id="{D8928865-16EE-4089-9F64-D7EC4552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71700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1MW、15分钟备电柜数初筛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E2118-A8C1-446F-B06F-08D162363DE9}"/>
              </a:ext>
            </a:extLst>
          </p:cNvPr>
          <p:cNvGraphicFramePr/>
          <p:nvPr/>
        </p:nvGraphicFramePr>
        <p:xfrm>
          <a:off xmlns:a="http://schemas.openxmlformats.org/drawingml/2006/main" x="7667625" y="2600325"/>
          <a:ext xmlns:a="http://schemas.openxmlformats.org/drawingml/2006/main" cx="3943350" cy="102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1314450"/>
                <a:gridCol w="762000"/>
              </a:tblGrid>
              <a:tr h="3429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昆宇产品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CE5DF"/>
                      </a:solidFill>
                      <a:prstDash val="solid"/>
                    </a:lnL>
                    <a:lnR w="4763">
                      <a:solidFill>
                        <a:srgbClr val="DCE5DF"/>
                      </a:solidFill>
                      <a:prstDash val="solid"/>
                    </a:lnR>
                    <a:lnT w="4763">
                      <a:solidFill>
                        <a:srgbClr val="DCE5DF"/>
                      </a:solidFill>
                      <a:prstDash val="solid"/>
                    </a:lnT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155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15分钟功率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T w="4763">
                      <a:solidFill>
                        <a:srgbClr val="DCE5DF"/>
                      </a:solidFill>
                      <a:prstDash val="solid"/>
                    </a:lnT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155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柜数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T w="4763">
                      <a:solidFill>
                        <a:srgbClr val="DCE5DF"/>
                      </a:solidFill>
                      <a:prstDash val="solid"/>
                    </a:lnT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155A4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LFP CFS80085U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CE5DF"/>
                      </a:solidFill>
                      <a:prstDash val="solid"/>
                    </a:lnL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232kW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 CNS80050U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CE5DF"/>
                      </a:solidFill>
                      <a:prstDash val="solid"/>
                    </a:lnL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121kW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roduct-limit">
            <a:extLst xmlns:a="http://schemas.openxmlformats.org/drawingml/2006/main">
              <a:ext uri="{FF2B5EF4-FFF2-40B4-BE49-F238E27FC236}">
                <a16:creationId xmlns:a16="http://schemas.microsoft.com/office/drawing/2014/main" id="{4F220A4A-2BD5-48BA-A81E-CF0D238A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24275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原表工况初筛，EOL与−30℃性能待核</a:t>
            </a:r>
          </a:p>
        </p:txBody>
      </p:sp>
      <p:sp>
        <p:nvSpPr>
          <p:cNvPr id="8" name="quote-heading">
            <a:extLst xmlns:a="http://schemas.openxmlformats.org/drawingml/2006/main">
              <a:ext uri="{FF2B5EF4-FFF2-40B4-BE49-F238E27FC236}">
                <a16:creationId xmlns:a16="http://schemas.microsoft.com/office/drawing/2014/main" id="{4182FF77-0828-4717-9C93-7D18C83C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4337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持续共建的验证与收益</a:t>
            </a:r>
          </a:p>
        </p:txBody>
      </p:sp>
      <p:sp>
        <p:nvSpPr>
          <p:cNvPr id="9" name="quote-evidence">
            <a:extLst xmlns:a="http://schemas.openxmlformats.org/drawingml/2006/main">
              <a:ext uri="{FF2B5EF4-FFF2-40B4-BE49-F238E27FC236}">
                <a16:creationId xmlns:a16="http://schemas.microsoft.com/office/drawing/2014/main" id="{E3709EC8-633A-42A3-8943-686DEB31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91050"/>
            <a:ext cx="394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认领问题，提交可追溯证据</a:t>
            </a:r>
          </a:p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独立复核，保存结论修订</a:t>
            </a:r>
          </a:p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服务收入与储能收益分别记账</a:t>
            </a:r>
          </a:p>
        </p:txBody>
      </p:sp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ACE56E2F-701D-442A-988C-2927B2A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条件模拟：1MW、2MWh/日、15分钟备用；20年、5%折现；双方RTE90%，谷价0.30元，8小时平价补电</a:t>
            </a:r>
          </a:p>
        </p:txBody>
      </p:sp>
      <p:sp>
        <p:nvSpPr>
          <p:cNvPr id="11" name="claim-limit">
            <a:extLst xmlns:a="http://schemas.openxmlformats.org/drawingml/2006/main">
              <a:ext uri="{FF2B5EF4-FFF2-40B4-BE49-F238E27FC236}">
                <a16:creationId xmlns:a16="http://schemas.microsoft.com/office/drawing/2014/main" id="{46520078-43CD-4C74-8095-B670614E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本地共建：五类任务、证据修订、贡献依据及分配预演。正式身份、积分与结算由1836确认</a:t>
            </a:r>
          </a:p>
        </p:txBody>
      </p:sp>
      <p:sp>
        <p:nvSpPr>
          <p:cNvPr id="12" name="close">
            <a:extLst xmlns:a="http://schemas.openxmlformats.org/drawingml/2006/main">
              <a:ext uri="{FF2B5EF4-FFF2-40B4-BE49-F238E27FC236}">
                <a16:creationId xmlns:a16="http://schemas.microsoft.com/office/drawing/2014/main" id="{0E119E7B-5645-4D76-A0FA-C0737CD3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7222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下一步共建：同任务报价、低温曲线与实际使用反馈，让新证据修正经济边界</a:t>
            </a:r>
          </a:p>
        </p:txBody>
      </p:sp>
    </p:spTree>
    <p:extLst>
      <p:ext uri="{BB962C8B-B14F-4D97-AF65-F5344CB8AC3E}">
        <p14:creationId xmlns:p14="http://schemas.microsoft.com/office/powerpoint/2010/main" val="1959096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WeiR-h</dc:creator>
  <ns0:lastModifiedBy>WeiR-h</ns0:lastModifiedBy>
  <dc:title>Presentation</dc:title>
  <ns2:created xsi:type="dcterms:W3CDTF">2026-10-14T11:56:54.4830000Z</ns2:created>
  <ns2:modified xsi:type="dcterms:W3CDTF">2026-10-14T11:56:54.4830000Z</ns2:modified>
</ns0:coreProperties>
</file>