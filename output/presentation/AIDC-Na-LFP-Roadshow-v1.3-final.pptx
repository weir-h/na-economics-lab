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d047a5d1c64962" /><Relationship Type="http://schemas.openxmlformats.org/officeDocument/2006/relationships/extended-properties" Target="/docProps/app.xml" Id="Rc313130f12664486" /><Relationship Type="http://schemas.openxmlformats.org/officeDocument/2006/relationships/officeDocument" Target="/ppt/presentation.xml" Id="Rce58116c543249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d7c902ea9147d0"/>
  </p:sldMasterIdLst>
  <p:notesMasterIdLst>
    <p:notesMasterId xmlns:r="http://schemas.openxmlformats.org/officeDocument/2006/relationships" r:id="R227fd9c9fbe841cb"/>
  </p:notesMasterIdLst>
  <p:sldIdLst>
    <p:sldId xmlns:r="http://schemas.openxmlformats.org/officeDocument/2006/relationships" id="256" r:id="R4218c277276b4b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53d8c2236b4b61" /><Relationship Type="http://schemas.openxmlformats.org/officeDocument/2006/relationships/slideMaster" Target="/ppt/slideMasters/slideMaster1.xml" Id="Ra5d7c902ea9147d0" /><Relationship Type="http://schemas.openxmlformats.org/officeDocument/2006/relationships/notesMaster" Target="/ppt/notesMasters/notesMaster1.xml" Id="R227fd9c9fbe841cb" /><Relationship Type="http://schemas.openxmlformats.org/officeDocument/2006/relationships/presProps" Target="/ppt/presProps.xml" Id="R333452df28e440c9" /><Relationship Type="http://schemas.openxmlformats.org/officeDocument/2006/relationships/tableStyles" Target="/ppt/tableStyles.xml" Id="R2df6adf787a14156" /><Relationship Type="http://schemas.openxmlformats.org/officeDocument/2006/relationships/slide" Target="/ppt/slides/slide1.xml" Id="R4218c277276b4b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bb37c73e7543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2b2daf513a4a78" /><Relationship Type="http://schemas.openxmlformats.org/officeDocument/2006/relationships/notesMaster" Target="/ppt/notesMasters/notesMaster1.xml" Id="Rc54612d0581846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0至2分钟 问题从哪里开始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这次在04题，我想弄清楚一件事：钠电更好的性能，在什么条件下，能让数据中心的整套供电方案更划算？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我们为一个数据中心选备电方案，会看到很多参数。循环次数更高、低温能力更好，都很值得关注。选型时还要往下问一步：这些能力会怎样改变整个系统？它能少装一些电池吗？能减少一次更换吗？在当地的运行和计费条件下，长期总账会怎样变化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所以，我把研究的起点放在同一项供电任务上。先明确要保护多大功率、要坚持多长时间、平时是否还要参加电费优化，再分别计算两类电池需要怎样配置，以及使用过程中会发生哪些费用。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我希望最后得到的判断，可以让别人用相同输入重新算出来。数据有变化，判断也能跟着变化。这是这次探索最基本的要求。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问题吸引我继续追下去，是因为技术参数和采购决定之间，还有一段需要说明的关系。备电系统需要实际购买、维护和更换，每一项能力都要放进具体用法里看。我希望把这段关系讲清楚，让一个技术上的好消息，能够接受经济上的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2至5分钟 为什么这样思考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初，题目中的15,000次循环很容易让人联想到少换电池。要把这一步算清楚，还要知道它一年实际使用多少次，以及电池是否先受到日历寿命的限制。如果在循环次数用完之前，日历约束已经触发更换，更高的循环次数就不一定减少这一次更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低温能力也有相似的问题。需要分清楚外部环境温度、电芯温度，以及系统有没有预热和保温。假如一种路线要加温控设备，就要把设备投资和耗电一起算进去。假如一种能力能减少配置，也要用对应工况的功率和可用能量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在查公开产品时，我还遇到了另一种容易忽略的差别：同样用每千瓦时的价格比较，可能没有对齐要完成的任务。对于十几分钟的备电系统，功率能力会直接影响需要多少柜。单柜便宜多少，要和柜数一起看。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这些观察逐渐把研究问题收紧了。先把两类系统放进同一个任务，再检查性能究竟通过哪条路径改变总成本。这样，性能、配置、运行和更换就能连成一条可以验证的关系。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这套思路也方便别人参与。如果有人提供更准确的功率曲线，我们可以重新检查柜数。如果有人给出同一任务的报价，我们可以重新计算采购边界。每份证据都应该说明，它具体改变了哪一项判断。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想象一次报价讨论。一个人关注单价，另一个人关注寿命。要形成能审查的方案，双方还需要共同确认保障任务和供货清单。例如温控是否包含，寿命条件对应什么温度，报价是否已经包含变流设备。研究先把这些条件列明，后面的讨论就有了相同的起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5至9分钟 一个改变回本判断的算例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请看右侧这张图。这里展示的是一个演示算例，全部条件都能在研究中查到。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我设定一兆瓦负荷，每天交付两兆瓦时，同时保留十五分钟备用。项目期二十年，折现率百分之五。为了先检查计算逻辑，两类电池采用相同的性能和费用参数。它们在这组条件下应得到相同结果。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纵轴是二十年的净现值。可以把它理解为，把未来的避免购电费用和全部投入折算到今天，再看两者相差多少。正值表示在已计入的这些项目里，收益现值高于费用现值。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左边这一根柱，只考虑原先的电费优化和已列费用，结果是正四十三点六五万元。接着，我把充电对购电峰值的影响纳入检查。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原因很直接。电池平时放电之前，需要先从电网充电。充电时，数据中心本来的负荷还在运行。如果同时补入很多电量，购电峰值就会上升。在按实际峰值计费的合同中，这可能带来额外费用。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已经在这个算例的平价充电窗口里摊平了补电，把峰值降下来。但当我加入每千瓦每月四十元的假设增量需量费后，净现值仍变成负一百二十三点三一万元。这里的四十元是压力测试假设，需要代入真实合同重新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这张图说明，完整计费条件足以改变回本判断。它对这组相同参数的两类电池都成立。它也没有计入停电保障价值，因此不能据此判断数据中心不需要备电。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对我来说，这个结果的重要性在于，它找到了下一步必须核实的数据：究竟按什么方式计费，实际充电会抬高多少月度峰值，允许怎样安排充电。知道这些条件，才能继续讨论技术性能在整套方案里值多少钱。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等共同方法核对清楚，再逐项加入两类电池的实际差异，就能检查变化来自哪里。比如一份低温曲线真的支持减少配置，就改变容量与费用；一份日历质保改变更换安排，就重新计算更换时点。我们需要让每一次结论变化，都对应一份能追溯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9至12分钟 为什么这个问题值得继续研究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我认为这项研究有两个直接用途。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对选型者来说，它能把一个笼统的优劣判断，变成有条件的比较。我们能看到，哪些条件让方案可行，哪些费用决定能否回本，以及缺少哪份数据时，结论还不能成立。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后续研究者来说，它提供了一条可以接着检验的路径。当前模型已经把容量配置、运行账本和长期现金流连起来。一个参数改变后，可以看到它影响的是初始投入、运维、更换还是充电费用。新的证据可以在具体位置进入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例如，厂商给出一份低温放电曲线后，首先要核对它是否覆盖任务要求的时长、温度和寿命终点。满足这些条件，才可以讨论是否减少配置。拿到一份报价后，也要看清里面已经包含哪些设备，以免重复计算。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关系值得被做成可复用的方法。每次遇到新的型号、地点或计费合同，都有相同的核对步骤。它们也留下了清楚的分工：厂商补参数，使用者补工况，复算参与者检查模型。每个人可以针对自己掌握的一小块证据，推动整个判断变得更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个没有达到回本条件的结果，也能帮助决定下一步应该研究什么。我们可以检查，是配置、报价还是运行费用形成了主要约束，再针对约束去找资料。等新数据进入后，继续检验这个门槛是否改变。这样，有限的研究精力就有了具体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目前，软件与资料的检查已经完成到可运行、可复算的程度。真实采购结论还要继续补齐同工况报价、实际负荷，以及一次真实的独立复核。这些是下一步验证的重点。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12至15分钟 怎样在1836中持续发生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我希望把这件事放进1836持续共建。研究结论会随着产品、报价和实际用法变化，因此需要有人不断补充，也需要有人把证据修正落实到模型里。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现在的工具已经把这些问题拆成具体任务。参与者可以认领一项问题，提交来源、模型版本，以及这份证据怎样影响结论。另一位署名复核者逐项检查，要求补充或者通过。发生修订时，原记录继续保留。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，一次独立复算可以成为一项具体贡献。复算者保存输入和过程，指出差异出现在哪里。模型维护者回应差异，再把它是否改变配置、费用或采购边界记录下来。即使发现的是一个错误，纠正之后也能留下可引用的结果，后来的参与者就能沿着这条记录继续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这个流程目前在本地运行，真实身份和平台审核仍由1836及实际参与者确认。这样的边界很重要，因为填写了另一位署名，不足以证明已经完成真实独立复核。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也分别记录储能项目的经济账和工具服务的经营账。图里的净现值属于储能项目的条件分析。工具如果后续提供选型分析或持续更新服务，需要等实际服务和收支发生，再登记对应收入与费用。项目贡献和收益分配，则按1836确认的规则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这样可以让参与者知道，自己的证据怎样改变了结论，也让后续服务是否产生价值接受实际检验。目前实际外部共建贡献和经营收入都还是零，演练记录单独标明。下一步，要让真实参与和使用反馈发生。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个使用验证也可以很小：请一位实际做选型的人，用同一任务核对两份方案，并记录这份分析帮助他发现了什么、还缺什么。先保留具体反馈，再判断是否形成持续服务，以及是否有人愿意为它付费。之后的经营和收益分享，才有真实发生的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15至16分钟 收束与邀请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这次探索让我把问题收紧到一句话：钠电的性能，要经过配置、运行和长期费用的检验，才能形成采购判断。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我已经完成可复算的模型和第一版工具。现在最需要补上的，是两份同任务报价，以及一次能重复过程的独立复算。如果你掌握这类资料，或者正在做数据中心选型，欢迎在04题一起检验这些条件。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我希望每一次新证据，都能说明它改变了什么。让这件事在1836持续留下可以复查的研究，也逐步验证它能否成为有实际用途的服务。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四分钟问答备选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**为什么没有直接判断钠电胜出？**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当前长期模型采用显式假设，尚缺本项目相同温度、寿命终点和供货范围的配对报价。模型可以给出成立条件；现实采购判断需要这些条件得到验证。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**为什么四十元会改变结果？**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这是假设的月增量实际峰值需量单价。代表日峰值按每月出现简化，二十年的费用现值会累积。实际合同若按容量、合同需量或其他门槛结算，需要改变计费方式后重新计算。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**技术参数怎样进入经济账？**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循环寿命只有在它比日历约束更早触发更换时，才减少换电次数。低温和倍率能力需要先改变可行配置或运行费用，再进入长期比较。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**真实产品资料说明了什么？**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昆宇两款柜的15分钟目录功率为LFP 232kW、Na 121kW。1MW按原表工况初筛为5柜和9柜。只有在同供货范围、其他费用相同等条件下，Na单柜价低于LFP的55.56%才使这组首购柜价更低。该表尚未证明−30℃或寿命终点的交流任务可用。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**已经找到真实价格了吗？**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任丘政府最终中标公告提供了4小时成套储能的历史价格，Na约1035.41元/kWh、LFP 518元/kWh。它们含PCS等设备，规模、厂商及用途不同，用作采购背景。同一AIDC短时任务的正式配对报价仍待取得。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**这项工作的新意在哪里？**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次工作把同任务可行性、充电造成的增量需量费、换电约束和证据修订接到同一套可复算流程里。通用现金流方法已有成熟研究，我没有把它宣称为学术首创。接下来要靠外部复算和使用反馈检验这套流程的实际用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**如何体现1836的收益分享？**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先让贡献对应到具体问题，并保留来源、复核和结论变化。实际经营收入发生后再记账，项目积分及可分配收益由1836确认。当前分配功能是本地预演，不代表已经产生收入或完成结算。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数据与原始来源</a:t>
            </a:r>
          </a:p>
          <a:p xmlns:a="http://schemas.openxmlformats.org/drawingml/2006/main">
            <a:r>
              <a:t>条件结果：evidence/research-v1/research-results.json，demandSweep中min-peak策略、需量单价0与40。显示值43.65和-123.31万元。此图对两类相同参数系统均成立，不是两类电池的胜负比较。</a:t>
            </a:r>
          </a:p>
          <a:p xmlns:a="http://schemas.openxmlformats.org/drawingml/2006/main">
            <a:r>
              <a:t>官方路演规则：https://1836.online/points-and-revenue</a:t>
            </a:r>
          </a:p>
          <a:p xmlns:a="http://schemas.openxmlformats.org/drawingml/2006/main">
            <a:r>
              <a:t>官方题目：https://1836.online/projects/cmujvb96f000z3jo188jx0xjp</a:t>
            </a:r>
          </a:p>
          <a:p xmlns:a="http://schemas.openxmlformats.org/drawingml/2006/main">
            <a:r>
              <a:t>官方现行规则：https://1836.online/points-and-revenue</a:t>
            </a:r>
          </a:p>
          <a:p xmlns:a="http://schemas.openxmlformats.org/drawingml/2006/main">
            <a:r>
              <a:t>政府评价方法：https://www.energy.gov/cmei/2022-grid-energy-storage-technology-cost-and-performance-assessment</a:t>
            </a:r>
          </a:p>
          <a:p xmlns:a="http://schemas.openxmlformats.org/drawingml/2006/main">
            <a:r>
              <a:t>厂商披露：https://www.catl.com/news/10052.html</a:t>
            </a:r>
          </a:p>
          <a:p xmlns:a="http://schemas.openxmlformats.org/drawingml/2006/main">
            <a:r>
              <a:t>上市公司投资者活动记录：https://static.cninfo.com.cn/finalpage/2026-07-24/1225441968.PDF</a:t>
            </a:r>
          </a:p>
          <a:p xmlns:a="http://schemas.openxmlformats.org/drawingml/2006/main">
            <a:r>
              <a:t>同行评议电芯成本情景研究：https://www.nature.com/articles/s41560-024-01701-9</a:t>
            </a:r>
          </a:p>
          <a:p xmlns:a="http://schemas.openxmlformats.org/drawingml/2006/main">
            <a:r>
              <a:t>国际机构产业分析：https://www.iea.org/commentaries/sodium-ion-battery-momentum-grows-but-challenges-remain</a:t>
            </a:r>
          </a:p>
          <a:p xmlns:a="http://schemas.openxmlformats.org/drawingml/2006/main">
            <a:r>
              <a:t>厂商产品用途说明：https://www.deltapowersolutions.com/en/mcis/lbm-series-ups-battery-system-introduction.php</a:t>
            </a:r>
          </a:p>
          <a:p xmlns:a="http://schemas.openxmlformats.org/drawingml/2006/main">
            <a:r>
              <a:t>政府历史计费结构说明：https://zfxxgk.ndrc.gov.cn/web/iteminfo.jsp?id=16504</a:t>
            </a:r>
          </a:p>
          <a:p xmlns:a="http://schemas.openxmlformats.org/drawingml/2006/main">
            <a:r>
              <a:t>厂商LFP备电柜产品页：https://www.cospowers.com/products/info/97/1619.html</a:t>
            </a:r>
          </a:p>
          <a:p xmlns:a="http://schemas.openxmlformats.org/drawingml/2006/main">
            <a:r>
              <a:t>厂商LFP规格书，中文第1页：https://www.cospowers.com/web/upload/2026/08/13/17866123138164tut9b.pdf</a:t>
            </a:r>
          </a:p>
          <a:p xmlns:a="http://schemas.openxmlformats.org/drawingml/2006/main">
            <a:r>
              <a:t>厂商钠电备电柜产品页：https://www.cospowers.com/products/info/136/1623.html</a:t>
            </a:r>
          </a:p>
          <a:p xmlns:a="http://schemas.openxmlformats.org/drawingml/2006/main">
            <a:r>
              <a:t>厂商钠电规格书，中文第1页：https://www.cospowers.com/web/upload/2026/08/13/17866112719415eirh7.pdf</a:t>
            </a:r>
          </a:p>
          <a:p xmlns:a="http://schemas.openxmlformats.org/drawingml/2006/main">
            <a:r>
              <a:t>厂商LFP UPS产品参数：https://www.deltapowersolutions.com/en/mcis/lbm-series-ups-battery-system-specifications.php</a:t>
            </a:r>
          </a:p>
          <a:p xmlns:a="http://schemas.openxmlformats.org/drawingml/2006/main">
            <a:r>
              <a:t>厂商LFP UPS产品规格书：https://www.deltapowersolutions.com/media/download/Leaflet_UPS-Battery_LBM%20series_en_EKAICA-ESP-FH.pdf</a:t>
            </a:r>
          </a:p>
          <a:p xmlns:a="http://schemas.openxmlformats.org/drawingml/2006/main">
            <a:r>
              <a:t>厂商AIDC产品披露：https://cn.highstar.com/companynews/352</a:t>
            </a:r>
          </a:p>
          <a:p xmlns:a="http://schemas.openxmlformats.org/drawingml/2006/main">
            <a:r>
              <a:t>厂商电芯目录：https://cn.highstar.com/cell</a:t>
            </a:r>
          </a:p>
          <a:p xmlns:a="http://schemas.openxmlformats.org/drawingml/2006/main">
            <a:r>
              <a:t>政府最终中标结果，钠电标段：https://szj.hebei.gov.cn/hbggfwpt/jydt/003001/003001002/003001002004/20260915/db2166c9-a5c5-48e9-b6ba-bbcfc2670499.html</a:t>
            </a:r>
          </a:p>
          <a:p xmlns:a="http://schemas.openxmlformats.org/drawingml/2006/main">
            <a:r>
              <a:t>政府最终中标结果，LFP标段：https://szj.hebei.gov.cn/hbggfwpt/jydt/003001/003001002/003001002004/20260915/f9176493-3534-4e30-b3bf-8f74662fbc51.html</a:t>
            </a:r>
          </a:p>
          <a:p xmlns:a="http://schemas.openxmlformats.org/drawingml/2006/main">
            <a:r>
              <a:t>政府原始招标范围，钠电标段：https://szj.hebei.gov.cn/hbggfwpt/jydt/003001/003001002/003001002001/20260807/b89f4e40-80b7-4e3a-a727-4fc63e80fa21.html</a:t>
            </a:r>
          </a:p>
          <a:p xmlns:a="http://schemas.openxmlformats.org/drawingml/2006/main">
            <a:r>
              <a:t>政府原始招标范围，LFP标段：https://szj.hebei.gov.cn/hbggfwpt/jydt/003001/003001002/003001002001/20260807/2233b878-5252-4270-a3c0-859635d5de7b.html</a:t>
            </a:r>
          </a:p>
          <a:p xmlns:a="http://schemas.openxmlformats.org/drawingml/2006/main">
            <a:r>
              <a:t>政府钠电招标补遗：https://szj.hebei.gov.cn/hbggfwpt/jydt/003001/003001002/003001002001/20260817/f5dd332f-4b72-4d9d-ac24-c400e2a36af1.html</a:t>
            </a:r>
          </a:p>
          <a:p xmlns:a="http://schemas.openxmlformats.org/drawingml/2006/main">
            <a:r>
              <a:t>政府LFP招标补遗：https://szj.hebei.gov.cn/hbggfwpt/jydt/003001/003001002/003001002001/20260817/a12601dc-ef29-42e8-983c-3b3c64af44ae.html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f857dcc544b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9970fd530d4f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e252a6c4b34e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a44d2bfe1e4b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0aee91fa4f4b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6a6685940e46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5C588B-5206-4E2B-BB8A-5A775A9C72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4505E54-3249-4031-B51F-34C07737043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F8BA8E7-41CC-4285-94CF-2C2FED3EB2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E1CF20-D781-480A-BE3F-3CBF33C10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040792-DC08-4ABF-B176-A2B17202A9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CC9EFF-EE54-4CDC-9EC7-2433F290E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919778-8605-4839-B4E8-482D38059E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F387646-8857-4FC4-8B8D-7922AD03A8E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D90094-63E0-4C77-8648-EDE5247D34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EA11DC-38A9-4498-936F-EF0A94D910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7f708756dc4926" /><Relationship Type="http://schemas.openxmlformats.org/officeDocument/2006/relationships/slideLayout" Target="/ppt/slideLayouts/slideLayout1.xml" Id="R46da0283e9ea4cc5" /><Relationship Type="http://schemas.openxmlformats.org/officeDocument/2006/relationships/slideLayout" Target="/ppt/slideLayouts/slideLayout2.xml" Id="R73e44f22c8e449a0" /><Relationship Type="http://schemas.openxmlformats.org/officeDocument/2006/relationships/slideLayout" Target="/ppt/slideLayouts/slideLayout3.xml" Id="Ra5eb439bf98b4a35" /><Relationship Type="http://schemas.openxmlformats.org/officeDocument/2006/relationships/slideLayout" Target="/ppt/slideLayouts/slideLayout4.xml" Id="Rc6f98fe275254c72" /><Relationship Type="http://schemas.openxmlformats.org/officeDocument/2006/relationships/slideLayout" Target="/ppt/slideLayouts/slideLayout5.xml" Id="R8d2d54f678234046" /><Relationship Type="http://schemas.openxmlformats.org/officeDocument/2006/relationships/slideLayout" Target="/ppt/slideLayouts/slideLayout6.xml" Id="R0bcb4609a00348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da0283e9ea4cc5"/>
    <p:sldLayoutId xmlns:r="http://schemas.openxmlformats.org/officeDocument/2006/relationships" id="2147483650" r:id="R73e44f22c8e449a0"/>
    <p:sldLayoutId xmlns:r="http://schemas.openxmlformats.org/officeDocument/2006/relationships" id="2147483651" r:id="Ra5eb439bf98b4a35"/>
    <p:sldLayoutId xmlns:r="http://schemas.openxmlformats.org/officeDocument/2006/relationships" id="2147483652" r:id="Rc6f98fe275254c72"/>
    <p:sldLayoutId xmlns:r="http://schemas.openxmlformats.org/officeDocument/2006/relationships" id="2147483653" r:id="R8d2d54f678234046"/>
    <p:sldLayoutId xmlns:r="http://schemas.openxmlformats.org/officeDocument/2006/relationships" id="2147483654" r:id="R0bcb4609a00348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f05e824f034925" /><Relationship Type="http://schemas.openxmlformats.org/officeDocument/2006/relationships/chart" Target="/ppt/slides/charts/chart1.xml" Id="R657cc24426c842e6" /><Relationship Type="http://schemas.openxmlformats.org/officeDocument/2006/relationships/notesSlide" Target="/ppt/notesSlides/notesSlide1.xml" Id="R67ad046d62aa420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20年净现值（万元，条件模拟）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342C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条件性净现值</c:v>
          </c:tx>
          <c:spPr>
            <a:solidFill xmlns:a="http://schemas.openxmlformats.org/drawingml/2006/main">
              <a:srgbClr val="155A46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55A4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A5A4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未计需量费</c:v>
                </c:pt>
                <c:pt idx="1">
                  <c:v>计入需量费</c:v>
                </c:pt>
              </c:strCache>
            </c:strRef>
          </c:cat>
          <c:val>
            <c:numRef>
              <c:f>'Chart Data'!$B$2:$B$3</c:f>
              <c:numCache>
                <c:formatCode>+0.00;-0.00;0.00</c:formatCode>
                <c:ptCount val="2"/>
                <c:pt idx="0">
                  <c:v>43.65</c:v>
                </c:pt>
                <c:pt idx="1">
                  <c:v>-123.31</c:v>
                </c:pt>
              </c:numCache>
            </c:numRef>
          </c:val>
        </c:ser>
        <c:dLbls>
          <c:numFmt formatCode="+0.00;-0.00;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B9C9B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-16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9E5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8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3CC676FE-A84F-4A55-B70F-42522781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44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钠电经济试验台</a:t>
            </a:r>
          </a:p>
        </p:txBody>
      </p:sp>
      <p:sp>
        <p:nvSpPr>
          <p:cNvPr id="2" name="author">
            <a:extLst xmlns:a="http://schemas.openxmlformats.org/drawingml/2006/main">
              <a:ext uri="{FF2B5EF4-FFF2-40B4-BE49-F238E27FC236}">
                <a16:creationId xmlns:a16="http://schemas.microsoft.com/office/drawing/2014/main" id="{0558B8FE-F959-44D8-B561-64D7BB9E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810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rPr>
              <a:t>WeiR-h   初焰钠宙04题</a:t>
            </a:r>
          </a:p>
        </p:txBody>
      </p:sp>
      <p:sp>
        <p:nvSpPr>
          <p:cNvPr id="3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F4E61709-7B89-4D35-A6A4-0BE272BE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rPr>
              <a:t>性能优势在什么条件下能让数据中心更划算？</a:t>
            </a:r>
          </a:p>
        </p:txBody>
      </p:sp>
      <p:sp>
        <p:nvSpPr>
          <p:cNvPr id="4" name="thinking-heading">
            <a:extLst xmlns:a="http://schemas.openxmlformats.org/drawingml/2006/main">
              <a:ext uri="{FF2B5EF4-FFF2-40B4-BE49-F238E27FC236}">
                <a16:creationId xmlns:a16="http://schemas.microsoft.com/office/drawing/2014/main" id="{D21D25BE-FA16-4B1E-A3B6-2049E842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65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我的思考起点</a:t>
            </a:r>
          </a:p>
        </p:txBody>
      </p:sp>
      <p:sp>
        <p:nvSpPr>
          <p:cNvPr id="5" name="thinking">
            <a:extLst xmlns:a="http://schemas.openxmlformats.org/drawingml/2006/main">
              <a:ext uri="{FF2B5EF4-FFF2-40B4-BE49-F238E27FC236}">
                <a16:creationId xmlns:a16="http://schemas.microsoft.com/office/drawing/2014/main" id="{18229D64-47FF-4AE8-906B-0E622095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47975"/>
            <a:ext cx="57531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先把两类电池放进同一供电任务，</a:t>
            </a:r>
          </a:p>
          <a:p xmlns:a="http://schemas.openxmlformats.org/drawingml/2006/main">
            <a:pPr>
              <a:defRPr sz="21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再计算它们的整套长期费用。</a:t>
            </a:r>
          </a:p>
        </p:txBody>
      </p:sp>
      <p:sp>
        <p:nvSpPr>
          <p:cNvPr id="6" name="value-heading">
            <a:extLst xmlns:a="http://schemas.openxmlformats.org/drawingml/2006/main">
              <a:ext uri="{FF2B5EF4-FFF2-40B4-BE49-F238E27FC236}">
                <a16:creationId xmlns:a16="http://schemas.microsoft.com/office/drawing/2014/main" id="{F77A23CA-07B6-4E5B-9608-1F53661F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565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这个问题的价值</a:t>
            </a:r>
          </a:p>
        </p:txBody>
      </p:sp>
      <p:sp>
        <p:nvSpPr>
          <p:cNvPr id="7" name="value">
            <a:extLst xmlns:a="http://schemas.openxmlformats.org/drawingml/2006/main">
              <a:ext uri="{FF2B5EF4-FFF2-40B4-BE49-F238E27FC236}">
                <a16:creationId xmlns:a16="http://schemas.microsoft.com/office/drawing/2014/main" id="{E2186633-30D3-47E2-8CD8-8F87B38F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让采购者看见回本条件，</a:t>
            </a:r>
          </a:p>
          <a:p xmlns:a="http://schemas.openxmlformats.org/drawingml/2006/main">
            <a:pPr>
              <a:defRPr sz="1950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让共建者知道新证据会改变什么。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B3904BD6-450E-402F-A3D7-0B7B48330882}"/>
              </a:ext>
            </a:extLst>
          </p:cNvPr>
          <p:cNvGraphicFramePr/>
          <p:nvPr/>
        </p:nvGraphicFramePr>
        <p:xfrm>
          <a:off xmlns:a="http://schemas.openxmlformats.org/drawingml/2006/main" x="6591300" y="2228850"/>
          <a:ext xmlns:a="http://schemas.openxmlformats.org/drawingml/2006/main" cx="5143500" cy="2705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7cc24426c842e6"/>
          </a:graphicData>
        </a:graphic>
      </p:graphicFrame>
      <p:sp>
        <p:nvSpPr>
          <p:cNvPr id="9" name="case-boundary">
            <a:extLst xmlns:a="http://schemas.openxmlformats.org/drawingml/2006/main">
              <a:ext uri="{FF2B5EF4-FFF2-40B4-BE49-F238E27FC236}">
                <a16:creationId xmlns:a16="http://schemas.microsoft.com/office/drawing/2014/main" id="{61C3ADE2-D94F-44AB-B72F-453CCCDC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48250"/>
            <a:ext cx="4991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rPr>
              <a:t>40元/kW·月为假设，未计停电保障价值。</a:t>
            </a:r>
          </a:p>
          <a:p xmlns:a="http://schemas.openxmlformats.org/drawingml/2006/main">
            <a:pPr>
              <a:defRPr sz="142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rPr>
              <a:t>本例两类电池参数相同，结果相同。</a:t>
            </a:r>
          </a:p>
        </p:txBody>
      </p:sp>
      <p:sp>
        <p:nvSpPr>
          <p:cNvPr id="10" name="next-contribution">
            <a:extLst xmlns:a="http://schemas.openxmlformats.org/drawingml/2006/main">
              <a:ext uri="{FF2B5EF4-FFF2-40B4-BE49-F238E27FC236}">
                <a16:creationId xmlns:a16="http://schemas.microsoft.com/office/drawing/2014/main" id="{ECFF0E65-DBC1-4109-BB24-7F905D7D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62625"/>
            <a:ext cx="11125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rPr>
              <a:t>共建下一步：同任务报价与独立复算</a:t>
            </a:r>
          </a:p>
          <a:p xmlns:a="http://schemas.openxmlformats.org/drawingml/2006/main">
            <a:pPr>
              <a:defRPr sz="180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rPr>
              <a:t>新证据怎样改变模型，持续留在1836</a:t>
            </a:r>
          </a:p>
        </p:txBody>
      </p:sp>
      <p:sp>
        <p:nvSpPr>
          <p:cNvPr id="11" name="scenario">
            <a:extLst xmlns:a="http://schemas.openxmlformats.org/drawingml/2006/main">
              <a:ext uri="{FF2B5EF4-FFF2-40B4-BE49-F238E27FC236}">
                <a16:creationId xmlns:a16="http://schemas.microsoft.com/office/drawing/2014/main" id="{753AD008-042B-47C3-9962-AD92D535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rPr>
              <a:t>算例：1MW、2MWh/日、15分钟备用，20年、5%折现；双方同参，8小时平价窗口均分补电</a:t>
            </a:r>
          </a:p>
        </p:txBody>
      </p:sp>
    </p:spTree>
    <p:extLst>
      <p:ext uri="{BB962C8B-B14F-4D97-AF65-F5344CB8AC3E}">
        <p14:creationId xmlns:p14="http://schemas.microsoft.com/office/powerpoint/2010/main" val="1188339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WeiR-h</dc:creator>
  <ns0:lastModifiedBy>WeiR-h</ns0:lastModifiedBy>
  <dc:title>Presentation</dc:title>
  <ns2:created xsi:type="dcterms:W3CDTF">2026-10-15T09:42:17.1430000Z</ns2:created>
  <ns2:modified xsi:type="dcterms:W3CDTF">2026-10-15T09:42:17.1430000Z</ns2:modified>
</ns0:coreProperties>
</file>