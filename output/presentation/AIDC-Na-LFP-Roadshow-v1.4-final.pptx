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3f7c292d664a5f" /><Relationship Type="http://schemas.openxmlformats.org/officeDocument/2006/relationships/extended-properties" Target="/docProps/app.xml" Id="Reb35f9aab5914418" /><Relationship Type="http://schemas.openxmlformats.org/officeDocument/2006/relationships/officeDocument" Target="/ppt/presentation.xml" Id="R32daa56ff86a44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ed63a31ef64aba"/>
  </p:sldMasterIdLst>
  <p:notesMasterIdLst>
    <p:notesMasterId xmlns:r="http://schemas.openxmlformats.org/officeDocument/2006/relationships" r:id="Rd9731b4731624f06"/>
  </p:notesMasterIdLst>
  <p:sldIdLst>
    <p:sldId xmlns:r="http://schemas.openxmlformats.org/officeDocument/2006/relationships" id="256" r:id="Rcf0792b788be48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753a4108d349ea" /><Relationship Type="http://schemas.openxmlformats.org/officeDocument/2006/relationships/slideMaster" Target="/ppt/slideMasters/slideMaster1.xml" Id="Ra1ed63a31ef64aba" /><Relationship Type="http://schemas.openxmlformats.org/officeDocument/2006/relationships/notesMaster" Target="/ppt/notesMasters/notesMaster1.xml" Id="Rd9731b4731624f06" /><Relationship Type="http://schemas.openxmlformats.org/officeDocument/2006/relationships/presProps" Target="/ppt/presProps.xml" Id="Rcc1d6e847aa64f76" /><Relationship Type="http://schemas.openxmlformats.org/officeDocument/2006/relationships/tableStyles" Target="/ppt/tableStyles.xml" Id="R16ef804c4b064c3e" /><Relationship Type="http://schemas.openxmlformats.org/officeDocument/2006/relationships/slide" Target="/ppt/slides/slide1.xml" Id="Rcf0792b788be48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67e8016fdd49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4f2a25ba254b6a" /><Relationship Type="http://schemas.openxmlformats.org/officeDocument/2006/relationships/notesMaster" Target="/ppt/notesMasters/notesMaster1.xml" Id="R83682e80b0f54b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0至1分30秒 问题从哪里来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这次在04题，我想弄清楚一件事：钠电更好的性能，在什么条件下，能让数据中心的整套供电方案更划算？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题目给出了很吸引人的条件：15,000次循环，以及低温下正常充放电。我关心的是，这些性能怎样进入采购者的长期账本。它能减少多少装机，少换几次电池，或者省下哪些运行费用？这些关系需要一项一项证明。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把起点放在同一项供电任务上。先明确需要保护多大功率、坚持多久、平时是否调度，再分别核对两类系统的配置和费用。我希望得到一种能被重新计算的判断：输入有证据，条件有边界，数据变化时可以看到结论为什么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1分30秒至3分30秒 为什么比较同一任务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技术参数要通过实际用法，才能改变经济结果。例如，15,000次循环看起来意味着很长寿命，但还要知道一年用多少次，以及是否先达到日历寿命。如果日历约束先触发更换，更高的循环次数就可能没有减少这次更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低温能力也需要放进具体系统。需要区分环境温度、电芯温度和温控措施，再核对对应温度及寿命终点的可用功率和电量。公开的存储温度，不能直接作为运行性能。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短时备电还容易遇到另一类问题：只比较每千瓦时价格，可能没有对齐供电任务。如果单柜的15分钟功率不同，需要购买的柜数就可能不同。报价讨论需要先确认柜数、转换设备、温控、安装和质保的范围。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这些观察让我形成了现在的思考路径：先检查任务可行，再把性能对配置、运行和更换的影响连进总账。别人拿到新的曲线或报价，就能指出它改变的是哪一项输入，而后重新检验判断。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3分30秒至6分30秒 一个改变回本判断的算例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请看右边这张图。它来自一个可以复算的条件算例：1兆瓦负荷，每天交付2兆瓦时，同时保留15分钟备用；项目期20年，折现率5%。两类电池先采用相同的性能与费用参数，检查计算是否给出相同结果。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纵轴是20年净现值，也就是把已计入的收益和费用折算到今天，再看两者相差多少。只按原先列出的电费优化及费用，本例为正43.65万元。随后，我检查了一个与运行直接相关的问题：电池充电会不会增加购电峰值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充电时，数据中心本来的负荷仍在运行。若补电抬高了按月计费的峰值，就可能发生额外需量费。我已经在本例的平价充电窗口里均分补电，但加入每千瓦每月40元的假设费用后，净现值仍变成负123.31万元。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元是压力测试假设，尚未核实为具体现场合同。这个反例支持的判断是：完整计费条件能够改变回本结论。它对本例相同参数的两类电池都成立，也没有计入停电保障价值，所以不能用它判断数据中心不需要备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这一步探索帮助我找到下一份最值得核实的数据：现场究竟如何计费，充电安排会抬高多少峰值，以及任务是否允许调整补电。之后，再分别加入两类产品的实际差异，检查它们能否改变装机、更换或运行费用。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6分30秒至9分钟 下一步怎样共建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目前，我已经把这些关系做成了可复算的模型和本地工具。新版本提供三个独立案例入口：不计需量费、计入40元假设费用，以及充电窗口不足。每次复算保留输入和结果，供电任务没完成时，不给出采购胜者。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产品规格与历史中标价也已经进入证据登记。短时备电目录、4小时电站采购和真实AIDC任务之间仍有条件差异，同任务配对报价及现场性能需要继续补齐。下一步会优先接入能够取得的负荷和电价资料，先检查时间范围、缺失和单位，再计算有效的完整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只有一天的数据，就先回答那一天的问题。它可以帮助检查交付、充电费用和购电峰值；20年的判断仍要明确长期假设。负荷和电价真实，也不会让尚未核验的电池参数自动变成真实。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我希望这件事在1836持续发生。有人提供数据，有人维护模型，有人独立复核，每次贡献都留下来源、版本和结论影响。发生修订时，旧记录保留，后来的参与者能看见问题怎样被改进。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实际服务的收入和费用也会单独记录，按1836确认的贡献与收益规则处理。目前真实外部复核和经营收入仍未发生。第一步先用一份可分享的数据，验证它是否帮助发现约束、纠正费用或改变选型讨论。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我希望最终交付的是一种能持续更新的判断方法：同一任务，同一费用口径，新证据能进入计算，结论变化能被解释。欢迎掌握负荷、报价、产品曲线或愿意复算的参与者，在04题一起把这条验证链补完整。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五个简短问答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 为什么没有直接宣布钠电或LFP胜出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目前缺少本任务下同供货范围的有效配对报价与低温、寿命终点曲线。现有证据能够支持条件比较和数据需求，不能直接替代采购选型。研究的推进方向是让每个实际差异对应可追溯的输入。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 40元需量费和图上的正负值说明什么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40元是压力测试假设。两根柱表示同一系统在两种费用范围下的结果，不是两种电池之间的柱状对比。现场合同、真实月峰值及停电保障价值需要另外核实。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 15,000次循环和−30℃怎样进入模型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设适用对象尚待澄清，保留共同条件与仅钠电采用循环条件的两种解释。本例年测试等效循环约233.6次，15年日历假设先触发更换；次数换算出的64.21年不是产品寿命预测。−30℃的损失和温控仍需具体产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 公开产品和价格能否直接用于采购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昆宇目录15分钟功率为LFP 232kW/柜、Na 121kW/柜，1MW初筛5柜和9柜；同供货范围、其他费用相同时，Na单柜价须低于LFP的55.56%。这不是−30℃、交流侧和EOL工程配置。任丘4小时电站中标复算约1,035.41与518元/kWh，含PCS等设备，只作为历史采购背景。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 1836共建会怎样产生持续价值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记录证据怎样改变结论，再用实际使用反馈检验是否形成可复用服务。模型净现值、工具经营收入与项目贡献分别记录；正式身份、项目积分及收益分配按1836确认。当前工作台是本地工具，实际外部复核和经营收入仍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数据与原始来源</a:t>
            </a:r>
          </a:p>
          <a:p xmlns:a="http://schemas.openxmlformats.org/drawingml/2006/main">
            <a:r>
              <a:t>条件结果：evidence/research-v1/research-results.json，demandSweep中min-peak策略、需量单价0与40。显示值43.65和-123.31万元。此图对两类相同参数系统均成立，不是两类电池的胜负比较。</a:t>
            </a:r>
          </a:p>
          <a:p xmlns:a="http://schemas.openxmlformats.org/drawingml/2006/main">
            <a:r>
              <a:t>官方路演规则：https://1836.online/points-and-revenue</a:t>
            </a:r>
          </a:p>
          <a:p xmlns:a="http://schemas.openxmlformats.org/drawingml/2006/main">
            <a:r>
              <a:t>官方题目：https://1836.online/projects/cmujvb96f000z3jo188jx0xjp</a:t>
            </a:r>
          </a:p>
          <a:p xmlns:a="http://schemas.openxmlformats.org/drawingml/2006/main">
            <a:r>
              <a:t>官方现行规则：https://1836.online/points-and-revenue</a:t>
            </a:r>
          </a:p>
          <a:p xmlns:a="http://schemas.openxmlformats.org/drawingml/2006/main">
            <a:r>
              <a:t>政府评价方法：https://www.energy.gov/cmei/2022-grid-energy-storage-technology-cost-and-performance-assessment</a:t>
            </a:r>
          </a:p>
          <a:p xmlns:a="http://schemas.openxmlformats.org/drawingml/2006/main">
            <a:r>
              <a:t>厂商披露：https://www.catl.com/news/10052.html</a:t>
            </a:r>
          </a:p>
          <a:p xmlns:a="http://schemas.openxmlformats.org/drawingml/2006/main">
            <a:r>
              <a:t>上市公司投资者活动记录：https://static.cninfo.com.cn/finalpage/2026-07-24/1225441968.PDF</a:t>
            </a:r>
          </a:p>
          <a:p xmlns:a="http://schemas.openxmlformats.org/drawingml/2006/main">
            <a:r>
              <a:t>同行评议电芯成本情景研究：https://www.nature.com/articles/s41560-024-01701-9</a:t>
            </a:r>
          </a:p>
          <a:p xmlns:a="http://schemas.openxmlformats.org/drawingml/2006/main">
            <a:r>
              <a:t>国际机构产业分析：https://www.iea.org/commentaries/sodium-ion-battery-momentum-grows-but-challenges-remain</a:t>
            </a:r>
          </a:p>
          <a:p xmlns:a="http://schemas.openxmlformats.org/drawingml/2006/main">
            <a:r>
              <a:t>厂商产品用途说明：https://www.deltapowersolutions.com/en/mcis/lbm-series-ups-battery-system-introduction.php</a:t>
            </a:r>
          </a:p>
          <a:p xmlns:a="http://schemas.openxmlformats.org/drawingml/2006/main">
            <a:r>
              <a:t>政府历史计费结构说明：https://zfxxgk.ndrc.gov.cn/web/iteminfo.jsp?id=16504</a:t>
            </a:r>
          </a:p>
          <a:p xmlns:a="http://schemas.openxmlformats.org/drawingml/2006/main">
            <a:r>
              <a:t>厂商LFP备电柜产品页：https://www.cospowers.com/products/info/97/1619.html</a:t>
            </a:r>
          </a:p>
          <a:p xmlns:a="http://schemas.openxmlformats.org/drawingml/2006/main">
            <a:r>
              <a:t>厂商LFP规格书，中文第1页：https://www.cospowers.com/web/upload/2026/08/13/17866123138164tut9b.pdf</a:t>
            </a:r>
          </a:p>
          <a:p xmlns:a="http://schemas.openxmlformats.org/drawingml/2006/main">
            <a:r>
              <a:t>厂商钠电备电柜产品页：https://www.cospowers.com/products/info/136/1623.html</a:t>
            </a:r>
          </a:p>
          <a:p xmlns:a="http://schemas.openxmlformats.org/drawingml/2006/main">
            <a:r>
              <a:t>厂商钠电规格书，中文第1页：https://www.cospowers.com/web/upload/2026/08/13/17866112719415eirh7.pdf</a:t>
            </a:r>
          </a:p>
          <a:p xmlns:a="http://schemas.openxmlformats.org/drawingml/2006/main">
            <a:r>
              <a:t>厂商LFP UPS产品参数：https://www.deltapowersolutions.com/en/mcis/lbm-series-ups-battery-system-specifications.php</a:t>
            </a:r>
          </a:p>
          <a:p xmlns:a="http://schemas.openxmlformats.org/drawingml/2006/main">
            <a:r>
              <a:t>厂商LFP UPS产品规格书：https://www.deltapowersolutions.com/media/download/Leaflet_UPS-Battery_LBM%20series_en_EKAICA-ESP-FH.pdf</a:t>
            </a:r>
          </a:p>
          <a:p xmlns:a="http://schemas.openxmlformats.org/drawingml/2006/main">
            <a:r>
              <a:t>厂商AIDC产品披露：https://cn.highstar.com/companynews/352</a:t>
            </a:r>
          </a:p>
          <a:p xmlns:a="http://schemas.openxmlformats.org/drawingml/2006/main">
            <a:r>
              <a:t>厂商电芯目录：https://cn.highstar.com/cell</a:t>
            </a:r>
          </a:p>
          <a:p xmlns:a="http://schemas.openxmlformats.org/drawingml/2006/main">
            <a:r>
              <a:t>政府最终中标结果，钠电标段：https://szj.hebei.gov.cn/hbggfwpt/jydt/003001/003001002/003001002004/20260915/db2166c9-a5c5-48e9-b6ba-bbcfc2670499.html</a:t>
            </a:r>
          </a:p>
          <a:p xmlns:a="http://schemas.openxmlformats.org/drawingml/2006/main">
            <a:r>
              <a:t>政府最终中标结果，LFP标段：https://szj.hebei.gov.cn/hbggfwpt/jydt/003001/003001002/003001002004/20260915/f9176493-3534-4e30-b3bf-8f74662fbc51.html</a:t>
            </a:r>
          </a:p>
          <a:p xmlns:a="http://schemas.openxmlformats.org/drawingml/2006/main">
            <a:r>
              <a:t>政府原始招标范围，钠电标段：https://szj.hebei.gov.cn/hbggfwpt/jydt/003001/003001002/003001002001/20260807/b89f4e40-80b7-4e3a-a727-4fc63e80fa21.html</a:t>
            </a:r>
          </a:p>
          <a:p xmlns:a="http://schemas.openxmlformats.org/drawingml/2006/main">
            <a:r>
              <a:t>政府原始招标范围，LFP标段：https://szj.hebei.gov.cn/hbggfwpt/jydt/003001/003001002/003001002001/20260807/2233b878-5252-4270-a3c0-859635d5de7b.html</a:t>
            </a:r>
          </a:p>
          <a:p xmlns:a="http://schemas.openxmlformats.org/drawingml/2006/main">
            <a:r>
              <a:t>政府钠电招标补遗：https://szj.hebei.gov.cn/hbggfwpt/jydt/003001/003001002/003001002001/20260817/f5dd332f-4b72-4d9d-ac24-c400e2a36af1.html</a:t>
            </a:r>
          </a:p>
          <a:p xmlns:a="http://schemas.openxmlformats.org/drawingml/2006/main">
            <a:r>
              <a:t>政府LFP招标补遗：https://szj.hebei.gov.cn/hbggfwpt/jydt/003001/003001002/003001002001/20260817/a12601dc-ef29-42e8-983c-3b3c64af44ae.html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651d3e4594a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14e3d3a4e47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c902eacad49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af6f63fa441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9b5665c9141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95bb4b17b4e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A94F9D-1F2D-4DAB-936C-6FBEE2162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18FAA7-2137-43A0-BB16-47808347D9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4FFFD1-F9D5-4A06-B2A9-EDD643B54A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A1C386-4B5E-4449-BFD2-B54A6EAB85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C959BD-AF7C-4A38-B68C-227C793B0E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C0CD11-8D2E-4423-ADA0-480A45E064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ED8CB9-F087-4DA6-B702-268C79B0DC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086405-DB52-4B00-BAFE-38AC36C8FD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5D8018-00ED-4A6C-B7F2-CD2B101677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1EFD48-F9C3-4925-A65B-5A27894B5E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95e658bd914c22" /><Relationship Type="http://schemas.openxmlformats.org/officeDocument/2006/relationships/slideLayout" Target="/ppt/slideLayouts/slideLayout1.xml" Id="R7ab77971881c4575" /><Relationship Type="http://schemas.openxmlformats.org/officeDocument/2006/relationships/slideLayout" Target="/ppt/slideLayouts/slideLayout2.xml" Id="Rb0622890d5df4c1d" /><Relationship Type="http://schemas.openxmlformats.org/officeDocument/2006/relationships/slideLayout" Target="/ppt/slideLayouts/slideLayout3.xml" Id="R020e989e5d304cc7" /><Relationship Type="http://schemas.openxmlformats.org/officeDocument/2006/relationships/slideLayout" Target="/ppt/slideLayouts/slideLayout4.xml" Id="Rc5897e88f4214ab7" /><Relationship Type="http://schemas.openxmlformats.org/officeDocument/2006/relationships/slideLayout" Target="/ppt/slideLayouts/slideLayout5.xml" Id="R08ffd8a1cbca47ce" /><Relationship Type="http://schemas.openxmlformats.org/officeDocument/2006/relationships/slideLayout" Target="/ppt/slideLayouts/slideLayout6.xml" Id="R1b45364a45bd43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b77971881c4575"/>
    <p:sldLayoutId xmlns:r="http://schemas.openxmlformats.org/officeDocument/2006/relationships" id="2147483650" r:id="Rb0622890d5df4c1d"/>
    <p:sldLayoutId xmlns:r="http://schemas.openxmlformats.org/officeDocument/2006/relationships" id="2147483651" r:id="R020e989e5d304cc7"/>
    <p:sldLayoutId xmlns:r="http://schemas.openxmlformats.org/officeDocument/2006/relationships" id="2147483652" r:id="Rc5897e88f4214ab7"/>
    <p:sldLayoutId xmlns:r="http://schemas.openxmlformats.org/officeDocument/2006/relationships" id="2147483653" r:id="R08ffd8a1cbca47ce"/>
    <p:sldLayoutId xmlns:r="http://schemas.openxmlformats.org/officeDocument/2006/relationships" id="2147483654" r:id="R1b45364a45bd43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3364d79137459b" /><Relationship Type="http://schemas.openxmlformats.org/officeDocument/2006/relationships/chart" Target="/ppt/slides/charts/chart1.xml" Id="R9a98caf91ee64df6" /><Relationship Type="http://schemas.openxmlformats.org/officeDocument/2006/relationships/notesSlide" Target="/ppt/notesSlides/notesSlide1.xml" Id="Rbf5db5cbabf7438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20年净现值（万元，条件模拟）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342C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条件性净现值</c:v>
          </c:tx>
          <c:spPr>
            <a:solidFill xmlns:a="http://schemas.openxmlformats.org/drawingml/2006/main">
              <a:srgbClr val="155A4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55A4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A5A4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未计需量费</c:v>
                </c:pt>
                <c:pt idx="1">
                  <c:v>计入需量费</c:v>
                </c:pt>
              </c:strCache>
            </c:strRef>
          </c:cat>
          <c:val>
            <c:numRef>
              <c:f>'Chart Data'!$B$2:$B$3</c:f>
              <c:numCache>
                <c:formatCode>+0.00;-0.00;0.00</c:formatCode>
                <c:ptCount val="2"/>
                <c:pt idx="0">
                  <c:v>43.65</c:v>
                </c:pt>
                <c:pt idx="1">
                  <c:v>-123.31</c:v>
                </c:pt>
              </c:numCache>
            </c:numRef>
          </c:val>
        </c:ser>
        <c:dLbls>
          <c:numFmt formatCode="+0.00;-0.00;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9C9B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-16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9E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8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222D6C43-C6C8-4096-9AB9-678B72F7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钠电经济试验台</a:t>
            </a:r>
          </a:p>
        </p:txBody>
      </p:sp>
      <p:sp>
        <p:nvSpPr>
          <p:cNvPr id="2" name="author">
            <a:extLst xmlns:a="http://schemas.openxmlformats.org/drawingml/2006/main">
              <a:ext uri="{FF2B5EF4-FFF2-40B4-BE49-F238E27FC236}">
                <a16:creationId xmlns:a16="http://schemas.microsoft.com/office/drawing/2014/main" id="{435AF3B0-C1D0-49F7-AAAF-BA146DD2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810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WeiR-h   初焰钠宙04题</a:t>
            </a:r>
          </a:p>
        </p:txBody>
      </p:sp>
      <p:sp>
        <p:nvSpPr>
          <p:cNvPr id="3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906C1FFB-51B4-466D-ABD9-7E107A79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rPr>
              <a:t>性能优势在什么条件下能让数据中心更划算？</a:t>
            </a:r>
          </a:p>
        </p:txBody>
      </p:sp>
      <p:sp>
        <p:nvSpPr>
          <p:cNvPr id="4" name="thinking-heading">
            <a:extLst xmlns:a="http://schemas.openxmlformats.org/drawingml/2006/main">
              <a:ext uri="{FF2B5EF4-FFF2-40B4-BE49-F238E27FC236}">
                <a16:creationId xmlns:a16="http://schemas.microsoft.com/office/drawing/2014/main" id="{C4A9CD02-5451-4414-AC23-8B913A87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65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我的思考起点</a:t>
            </a:r>
          </a:p>
        </p:txBody>
      </p:sp>
      <p:sp>
        <p:nvSpPr>
          <p:cNvPr id="5" name="thinking">
            <a:extLst xmlns:a="http://schemas.openxmlformats.org/drawingml/2006/main">
              <a:ext uri="{FF2B5EF4-FFF2-40B4-BE49-F238E27FC236}">
                <a16:creationId xmlns:a16="http://schemas.microsoft.com/office/drawing/2014/main" id="{5175375D-1346-4FDA-B3FF-3600BC04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57531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先把两类电池放进同一供电任务，</a:t>
            </a:r>
          </a:p>
          <a:p xmlns:a="http://schemas.openxmlformats.org/drawingml/2006/main">
            <a:pPr>
              <a:defRPr sz="21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再计算它们的整套长期费用。</a:t>
            </a:r>
          </a:p>
        </p:txBody>
      </p:sp>
      <p:sp>
        <p:nvSpPr>
          <p:cNvPr id="6" name="value-heading">
            <a:extLst xmlns:a="http://schemas.openxmlformats.org/drawingml/2006/main">
              <a:ext uri="{FF2B5EF4-FFF2-40B4-BE49-F238E27FC236}">
                <a16:creationId xmlns:a16="http://schemas.microsoft.com/office/drawing/2014/main" id="{3D8EA605-65D6-4866-9F85-E422C70C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565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这个问题的价值</a:t>
            </a:r>
          </a:p>
        </p:txBody>
      </p:sp>
      <p:sp>
        <p:nvSpPr>
          <p:cNvPr id="7" name="value">
            <a:extLst xmlns:a="http://schemas.openxmlformats.org/drawingml/2006/main">
              <a:ext uri="{FF2B5EF4-FFF2-40B4-BE49-F238E27FC236}">
                <a16:creationId xmlns:a16="http://schemas.microsoft.com/office/drawing/2014/main" id="{743E6A74-79A6-4517-B1DB-D9EBF51B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让采购者看见回本条件，</a:t>
            </a:r>
          </a:p>
          <a:p xmlns:a="http://schemas.openxmlformats.org/drawingml/2006/main">
            <a:pPr>
              <a:defRPr sz="1950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让共建者知道新证据会改变什么。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DC6CAFAA-3273-448F-9144-589C92171EDB}"/>
              </a:ext>
            </a:extLst>
          </p:cNvPr>
          <p:cNvGraphicFramePr/>
          <p:nvPr/>
        </p:nvGraphicFramePr>
        <p:xfrm>
          <a:off xmlns:a="http://schemas.openxmlformats.org/drawingml/2006/main" x="6591300" y="2228850"/>
          <a:ext xmlns:a="http://schemas.openxmlformats.org/drawingml/2006/main" cx="5143500" cy="2705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98caf91ee64df6"/>
          </a:graphicData>
        </a:graphic>
      </p:graphicFrame>
      <p:sp>
        <p:nvSpPr>
          <p:cNvPr id="9" name="case-boundary">
            <a:extLst xmlns:a="http://schemas.openxmlformats.org/drawingml/2006/main">
              <a:ext uri="{FF2B5EF4-FFF2-40B4-BE49-F238E27FC236}">
                <a16:creationId xmlns:a16="http://schemas.microsoft.com/office/drawing/2014/main" id="{4D455721-71AB-443B-9CFF-B7AC57B8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48250"/>
            <a:ext cx="499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40元/kW·月为假设，未计停电保障价值。</a:t>
            </a:r>
          </a:p>
          <a:p xmlns:a="http://schemas.openxmlformats.org/drawingml/2006/main">
            <a:pPr>
              <a:defRPr sz="142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本例两类电池参数相同，结果相同。</a:t>
            </a:r>
          </a:p>
        </p:txBody>
      </p:sp>
      <p:sp>
        <p:nvSpPr>
          <p:cNvPr id="10" name="next-contribution">
            <a:extLst xmlns:a="http://schemas.openxmlformats.org/drawingml/2006/main">
              <a:ext uri="{FF2B5EF4-FFF2-40B4-BE49-F238E27FC236}">
                <a16:creationId xmlns:a16="http://schemas.microsoft.com/office/drawing/2014/main" id="{3A46AD69-D173-4976-944D-060C7855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62625"/>
            <a:ext cx="11125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rPr>
              <a:t>共建下一步：真实逐时数据与独立复算</a:t>
            </a:r>
          </a:p>
          <a:p xmlns:a="http://schemas.openxmlformats.org/drawingml/2006/main">
            <a:pPr>
              <a:defRPr sz="18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rPr>
              <a:t>新证据怎样改变模型，持续留在1836</a:t>
            </a:r>
          </a:p>
        </p:txBody>
      </p:sp>
      <p:sp>
        <p:nvSpPr>
          <p:cNvPr id="11" name="scenario">
            <a:extLst xmlns:a="http://schemas.openxmlformats.org/drawingml/2006/main">
              <a:ext uri="{FF2B5EF4-FFF2-40B4-BE49-F238E27FC236}">
                <a16:creationId xmlns:a16="http://schemas.microsoft.com/office/drawing/2014/main" id="{37A33111-5698-4F01-9857-137DDF84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算例：1MW、2MWh/日、15分钟备用，20年、5%折现；双方同参，8小时平价窗口均分补电</a:t>
            </a:r>
          </a:p>
        </p:txBody>
      </p:sp>
    </p:spTree>
    <p:extLst>
      <p:ext uri="{BB962C8B-B14F-4D97-AF65-F5344CB8AC3E}">
        <p14:creationId xmlns:p14="http://schemas.microsoft.com/office/powerpoint/2010/main" val="917678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WeiR-h</dc:creator>
  <ns0:lastModifiedBy>WeiR-h</ns0:lastModifiedBy>
  <dc:title>Presentation</dc:title>
  <ns2:created xsi:type="dcterms:W3CDTF">2026-10-16T13:12:33.2260000Z</ns2:created>
  <ns2:modified xsi:type="dcterms:W3CDTF">2026-10-16T13:12:33.2260000Z</ns2:modified>
</ns0:coreProperties>
</file>